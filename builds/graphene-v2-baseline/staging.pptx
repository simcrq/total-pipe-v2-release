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jpg" ContentType="image/jpe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fbe5df06933e4afd" /><Relationship Type="http://schemas.openxmlformats.org/package/2006/relationships/metadata/core-properties" Target="/docProps/core.xml" Id="Rb5022140a4e84f54" /><Relationship Type="http://schemas.openxmlformats.org/officeDocument/2006/relationships/extended-properties" Target="/docProps/app.xml" Id="R837e5dd3daf14acb" /><Relationship Type="http://schemas.openxmlformats.org/officeDocument/2006/relationships/custom-properties" Target="/docProps/custom.xml" Id="Re729508440f94283"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f9aceb9d0bba43b3"/>
  </p:notesMasterIdLst>
  <p:sldIdLst>
    <p:sldId id="256" r:id="R2a450d54724d4a72"/>
    <p:sldId id="257" r:id="R6838c09d05c847b0"/>
    <p:sldId id="258" r:id="Rbcb09c78db344f7b"/>
    <p:sldId id="259" r:id="Ra6d5e82fb48e4e6f"/>
    <p:sldId id="260" r:id="R1a68641ebf2141f7"/>
    <p:sldId id="261" r:id="R180fd05dc8ec4eed"/>
    <p:sldId id="262" r:id="R6b8308034f6548d3"/>
    <p:sldId id="263" r:id="Rd4ba7daabfc34664"/>
    <p:sldId id="264" r:id="R6dba871d3b404ce3"/>
  </p:sldIdLst>
  <p:sldSz cx="12192000" cy="6858000" type="custom"/>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2a450d54724d4a72" /><Relationship Type="http://schemas.openxmlformats.org/officeDocument/2006/relationships/notesMaster" Target="/ppt/notesMasters/notesMaster1.xml" Id="Rf9aceb9d0bba43b3" /><Relationship Type="http://schemas.openxmlformats.org/officeDocument/2006/relationships/slide" Target="/ppt/slides/slide2.xml" Id="R6838c09d05c847b0" /><Relationship Type="http://schemas.openxmlformats.org/officeDocument/2006/relationships/slide" Target="/ppt/slides/slide3.xml" Id="Rbcb09c78db344f7b" /><Relationship Type="http://schemas.openxmlformats.org/officeDocument/2006/relationships/slide" Target="/ppt/slides/slide4.xml" Id="Ra6d5e82fb48e4e6f" /><Relationship Type="http://schemas.openxmlformats.org/officeDocument/2006/relationships/slide" Target="/ppt/slides/slide5.xml" Id="R1a68641ebf2141f7" /><Relationship Type="http://schemas.openxmlformats.org/officeDocument/2006/relationships/slide" Target="/ppt/slides/slide6.xml" Id="R180fd05dc8ec4eed" /><Relationship Type="http://schemas.openxmlformats.org/officeDocument/2006/relationships/slide" Target="/ppt/slides/slide7.xml" Id="R6b8308034f6548d3" /><Relationship Type="http://schemas.openxmlformats.org/officeDocument/2006/relationships/slide" Target="/ppt/slides/slide8.xml" Id="Rd4ba7daabfc34664" /><Relationship Type="http://schemas.openxmlformats.org/officeDocument/2006/relationships/slide" Target="/ppt/slides/slide9.xml" Id="R6dba871d3b404c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da7a0f2338c46b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等线"/>
        <a:cs typeface=""/>
      </a:majorFont>
      <a:minorFont>
        <a:latin typeface="Calibri"/>
        <a:ea typeface="等线"/>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1f6352f04cf34741" /><Relationship Type="http://schemas.openxmlformats.org/officeDocument/2006/relationships/slide" Target="/ppt/slides/slide1.xml" Id="Re31e8c9a97554125"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c7b4f748dec3433a" /><Relationship Type="http://schemas.openxmlformats.org/officeDocument/2006/relationships/slide" Target="/ppt/slides/slide2.xml" Id="Rac98f042ea244922"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b7a037a5a4b54b0e" /><Relationship Type="http://schemas.openxmlformats.org/officeDocument/2006/relationships/slide" Target="/ppt/slides/slide3.xml" Id="Rc82a544630174cea"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9f91a699529840f0" /><Relationship Type="http://schemas.openxmlformats.org/officeDocument/2006/relationships/slide" Target="/ppt/slides/slide4.xml" Id="R2d4eac656eda436b"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2033a46485e14c09" /><Relationship Type="http://schemas.openxmlformats.org/officeDocument/2006/relationships/slide" Target="/ppt/slides/slide5.xml" Id="Re1cd363722b64a12"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2ca9a551237542b2" /><Relationship Type="http://schemas.openxmlformats.org/officeDocument/2006/relationships/slide" Target="/ppt/slides/slide6.xml" Id="R167a655551724b84"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609eb267f06f4c3b" /><Relationship Type="http://schemas.openxmlformats.org/officeDocument/2006/relationships/slide" Target="/ppt/slides/slide7.xml" Id="R77bc80f14aa24d82"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5ebf519354e24c64" /><Relationship Type="http://schemas.openxmlformats.org/officeDocument/2006/relationships/slide" Target="/ppt/slides/slide8.xml" Id="R11412820b56b449c"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81ec553b1f4a42c2" /><Relationship Type="http://schemas.openxmlformats.org/officeDocument/2006/relationships/slide" Target="/ppt/slides/slide9.xml" Id="R2d690990588441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Paper: “Failure Mechanisms of Graphene under Tension,” C. A. Marianetti and H. G. Yevick, Physical Review Letters 105, 245502 (2010), DOI 10.1103/PhysRevLett.105.245502. The title is shortened for the cover; the full paper title and citation are shown below. Figure 4(a) is the paper’s loading-direction map.</a:t>
            </a:r>
          </a:p>
          <a:p xmlns:a="http://schemas.openxmlformats.org/drawingml/2006/main">
            <a:r>
              <a:rPr lang="en-US"/>
              <a:t>Evidence: EV0002 · EV0045</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 opens with two findings from different loading contexts: nearly ideal nanoindentation caused failure, while previous armchair/zigzag phonon calculations identified elastic instability. The authors ask which instability comes first for a generic tensile state. This comparison motivates the calculations; it does not claim that the experiment and calculations reproduce identical boundary conditions.</a:t>
            </a:r>
          </a:p>
          <a:p xmlns:a="http://schemas.openxmlformats.org/drawingml/2006/main">
            <a:r>
              <a:rPr lang="en-US"/>
              <a:t>Evidence: EV0057 · EV0033 · EV0004 · EV0002</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DFT forces as a function of strain are used to assess elastic instability. Phonons are computed with the displacement method, with forces generated using DFT in the local density approximation. The calculation then compares the elastic and K1-mode limits across tensile states. See the cited evidence in the speaker-note footer for the source spans.</a:t>
            </a:r>
          </a:p>
          <a:p xmlns:a="http://schemas.openxmlformats.org/drawingml/2006/main">
            <a:r>
              <a:rPr lang="en-US"/>
              <a:t>Evidence: EV0004 · EV0009 · EV0017 · EV0025</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Figure 1 shows significant softening of in-plane phonons under equibiaxial strain. The phonon calculation places the K1 soft mode at ε_A = 0.205–0.212. A separate mode-energy analysis predicts ε_A = 0.213. These are closely matching calculated thresholds, not a direct measurement of breaking strain.</a:t>
            </a:r>
          </a:p>
          <a:p xmlns:a="http://schemas.openxmlformats.org/drawingml/2006/main">
            <a:r>
              <a:rPr lang="en-US"/>
              <a:t>Evidence: EV0055 · EV0025</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 reports that further strain deepens and widens the K1 double-well potential. It interprets the mode as a route toward isolated hexagonal rings and reduced strength. Figure 3 supplies the mechanical response: the K-cell stress curve drops near the K1 softening. Present the structural pathway as the authors’ interpretation, not as a directly imaged transition in this calculation.</a:t>
            </a:r>
          </a:p>
          <a:p xmlns:a="http://schemas.openxmlformats.org/drawingml/2006/main">
            <a:r>
              <a:rPr lang="en-US"/>
              <a:t>Evidence: EV0031 · EV0034 · EV0032</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authors identify regions I and III as elastic-instability failure, where the elastic limit precedes the K1 mode. The complementary region is limited first by the K1 instability. They emphasize that equibiaxial loading follows a different route from the usual uniaxial armchair/zigzag case. Use the labels in Figure 4(a) when presenting the regions.</a:t>
            </a:r>
          </a:p>
          <a:p xmlns:a="http://schemas.openxmlformats.org/drawingml/2006/main">
            <a:r>
              <a:rPr lang="en-US"/>
              <a:t>Evidence: EV0029 · EV0045 · EV0002</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coordinates were rotated in 3-degree increments; Figure 4(c) displays the 15-degree case. The rotated results remain within the envelope formed by the original and 15-degree curves. The authors report no qualitative shear-induced change and only small quantitative shifts to K1 onset. Because graphene is anisotropic, the paper notes that the orientation/shear enumeration is not exhaustive.</a:t>
            </a:r>
          </a:p>
          <a:p xmlns:a="http://schemas.openxmlformats.org/drawingml/2006/main">
            <a:r>
              <a:rPr lang="en-US"/>
              <a:t>Evidence: EV0049 · EV0024 · EV0046 · EV0005</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Lee et al. report a nominal equibiaxial breaking strain of 0.225. The paper says this is in much better agreement with its calculated equibiaxial elastic-instability strain of 0.216. The authors suggest that K1 may be stabilized in nanoindentation, but they do not establish this. They identify possible differences involving the indenter environment and the experimental versus constructed equibiaxial strain state.</a:t>
            </a:r>
          </a:p>
          <a:p xmlns:a="http://schemas.openxmlformats.org/drawingml/2006/main">
            <a:r>
              <a:rPr lang="en-US"/>
              <a:t>Evidence: EV0054 · EV0028 · EV0021 · EV0020 · EV0014</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paper’s central result is mode selection by tensile state: elastic instability in regions I/III and a K1 soft-mode route in region II. The authors connect K1 softening with a phase transition and reduced strength in some states. The nanoindentation comparison does not settle which route occurred. The paper says its orientation/shear treatment is incomplete. PaperWorkflow’s synthesis readiness also marks evidence coverage as review, so this deck should not be read as exhaustive coverage of all workflow facets.</a:t>
            </a:r>
          </a:p>
          <a:p xmlns:a="http://schemas.openxmlformats.org/drawingml/2006/main">
            <a:r>
              <a:rPr lang="en-US"/>
              <a:t>Evidence: EV0029 · EV0034 · EV0002 · EV0054 · EV0021 · EV0005</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b9ea3ef3f847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77af6acd984c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49ec7c27d840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bcece6ce7b4e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d491fba43341f5"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159deb5be8354756"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db947ca115d4ef4" /><Relationship Type="http://schemas.openxmlformats.org/officeDocument/2006/relationships/image" Target="/ppt/media/image.jpg" Id="R50490ef2878c474c" /><Relationship Type="http://schemas.openxmlformats.org/officeDocument/2006/relationships/notesSlide" Target="/ppt/notesSlides/notesSlide1.xml" Id="Rd8dabbfafb9348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b33aff11cb4c05" /><Relationship Type="http://schemas.openxmlformats.org/officeDocument/2006/relationships/notesSlide" Target="/ppt/notesSlides/notesSlide2.xml" Id="R731e8aa0c01149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8cdab6922a4dfc" /><Relationship Type="http://schemas.openxmlformats.org/officeDocument/2006/relationships/notesSlide" Target="/ppt/notesSlides/notesSlide3.xml" Id="R1f9e11b595e647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f6d2ed88834c2c" /><Relationship Type="http://schemas.openxmlformats.org/officeDocument/2006/relationships/image" Target="/ppt/media/image2.jpg" Id="Rb6ef5a1f33c64b49" /><Relationship Type="http://schemas.openxmlformats.org/officeDocument/2006/relationships/notesSlide" Target="/ppt/notesSlides/notesSlide4.xml" Id="R2604bd67484948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76300137f64450" /><Relationship Type="http://schemas.openxmlformats.org/officeDocument/2006/relationships/image" Target="/ppt/media/image3.jpg" Id="R5da212af6f3b4a8e" /><Relationship Type="http://schemas.openxmlformats.org/officeDocument/2006/relationships/notesSlide" Target="/ppt/notesSlides/notesSlide5.xml" Id="R7ee2467786df41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2028a4207242ce" /><Relationship Type="http://schemas.openxmlformats.org/officeDocument/2006/relationships/image" Target="/ppt/media/image4.jpg" Id="R570ad5ad9c4f4c6f" /><Relationship Type="http://schemas.openxmlformats.org/officeDocument/2006/relationships/notesSlide" Target="/ppt/notesSlides/notesSlide6.xml" Id="R4106f35f801d48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cd5d9fb8b14c28" /><Relationship Type="http://schemas.openxmlformats.org/officeDocument/2006/relationships/image" Target="/ppt/media/image5.jpg" Id="Rc7e26095cadf4800" /><Relationship Type="http://schemas.openxmlformats.org/officeDocument/2006/relationships/notesSlide" Target="/ppt/notesSlides/notesSlide7.xml" Id="R5c241670f17c45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6d972b8b204688" /><Relationship Type="http://schemas.openxmlformats.org/officeDocument/2006/relationships/notesSlide" Target="/ppt/notesSlides/notesSlide8.xml" Id="R4a2f4c8598034b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61f939d94a4514" /><Relationship Type="http://schemas.openxmlformats.org/officeDocument/2006/relationships/image" Target="/ppt/media/image6.jpg" Id="Rb59823cd6b384317" /><Relationship Type="http://schemas.openxmlformats.org/officeDocument/2006/relationships/notesSlide" Target="/ppt/notesSlides/notesSlide9.xml" Id="R4a16f9e859554a9e" /></Relationships>
</file>

<file path=ppt/slides/slide1.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0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Graphene Failure</a:t>
            </a:r>
          </a:p>
        </p:txBody>
      </p:sp>
      <p:sp>
        <p:nvSpPr>
          <p:cNvPr id="10000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predicted failure mode depends on the tensile state.</a:t>
            </a:r>
          </a:p>
        </p:txBody>
      </p:sp>
      <p:sp>
        <p:nvSpPr>
          <p:cNvPr id="10000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EV0002 · EV0045</a:t>
            </a:r>
          </a:p>
        </p:txBody>
      </p:sp>
      <p:pic>
        <p:nvPicPr>
          <p:cNvPr id="100003" name="figure-1" descr="figure-1: Failure-mode map versus tensile direction, with distinct elastic and K1-instability regions."/>
          <p:cNvPicPr>
            <a:picLocks xmlns:a="http://schemas.openxmlformats.org/drawingml/2006/main" noChangeAspect="1"/>
          </p:cNvPicPr>
          <p:nvPr/>
        </p:nvPicPr>
        <p:blipFill>
          <a:blip xmlns:r="http://schemas.openxmlformats.org/officeDocument/2006/relationships" xmlns:a="http://schemas.openxmlformats.org/drawingml/2006/main" r:embed="R50490ef2878c474c"/>
          <a:stretch xmlns:a="http://schemas.openxmlformats.org/drawingml/2006/main">
            <a:fillRect/>
          </a:stretch>
        </p:blipFill>
        <p:spPr>
          <a:xfrm xmlns:a="http://schemas.openxmlformats.org/drawingml/2006/main">
            <a:off x="6857092" y="2476500"/>
            <a:ext cx="3202216" cy="2914650"/>
          </a:xfrm>
          <a:prstGeom xmlns:a="http://schemas.openxmlformats.org/drawingml/2006/main" prst="rect">
            <a:avLst/>
          </a:prstGeom>
        </p:spPr>
      </p:pic>
      <p:sp>
        <p:nvSpPr>
          <p:cNvPr id="100004" name="figure-1:caption"/>
          <p:cNvSpPr txBox="1"/>
          <p:nvPr/>
        </p:nvSpPr>
        <p:spPr>
          <a:xfrm xmlns:a="http://schemas.openxmlformats.org/drawingml/2006/main">
            <a:off x="5257800" y="5505450"/>
            <a:ext cx="64008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Maximum stable strain across tensile directions; regions differ in</a:t>
            </a:r>
          </a:p>
          <a:p xmlns:a="http://schemas.openxmlformats.org/drawingml/2006/main">
            <a:pPr>
              <a:lnSpc>
                <a:spcPts val="1875"/>
              </a:lnSpc>
            </a:pPr>
            <a:r>
              <a:rPr lang="en-US" sz="1500" b="0">
                <a:solidFill>
                  <a:srgbClr val="162B3A"/>
                </a:solidFill>
                <a:latin typeface="Arial"/>
                <a:ea typeface="Arial"/>
              </a:rPr>
              <a:t>which instability occurs first.</a:t>
            </a:r>
          </a:p>
        </p:txBody>
      </p:sp>
      <p:sp>
        <p:nvSpPr>
          <p:cNvPr id="100005" name="paper-title:label"/>
          <p:cNvSpPr txBox="1"/>
          <p:nvPr/>
        </p:nvSpPr>
        <p:spPr>
          <a:xfrm xmlns:a="http://schemas.openxmlformats.org/drawingml/2006/main">
            <a:off x="533400" y="247650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Paper</a:t>
            </a:r>
          </a:p>
        </p:txBody>
      </p:sp>
      <p:sp>
        <p:nvSpPr>
          <p:cNvPr id="100006" name="paper-title"/>
          <p:cNvSpPr txBox="1"/>
          <p:nvPr/>
        </p:nvSpPr>
        <p:spPr>
          <a:xfrm xmlns:a="http://schemas.openxmlformats.org/drawingml/2006/main">
            <a:off x="533400" y="2895600"/>
            <a:ext cx="43815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Failure Mechanisms of Graphene</a:t>
            </a:r>
          </a:p>
          <a:p xmlns:a="http://schemas.openxmlformats.org/drawingml/2006/main">
            <a:pPr>
              <a:lnSpc>
                <a:spcPts val="2625"/>
              </a:lnSpc>
            </a:pPr>
            <a:r>
              <a:rPr lang="en-US" sz="2100" b="0">
                <a:solidFill>
                  <a:srgbClr val="162B3A"/>
                </a:solidFill>
                <a:latin typeface="Arial"/>
                <a:ea typeface="Arial"/>
              </a:rPr>
              <a:t>under Tension</a:t>
            </a:r>
          </a:p>
        </p:txBody>
      </p:sp>
      <p:sp>
        <p:nvSpPr>
          <p:cNvPr id="100007" name="authors:label"/>
          <p:cNvSpPr txBox="1"/>
          <p:nvPr/>
        </p:nvSpPr>
        <p:spPr>
          <a:xfrm xmlns:a="http://schemas.openxmlformats.org/drawingml/2006/main">
            <a:off x="533400" y="4371975"/>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Authors and journal</a:t>
            </a:r>
          </a:p>
        </p:txBody>
      </p:sp>
      <p:sp>
        <p:nvSpPr>
          <p:cNvPr id="100008" name="authors"/>
          <p:cNvSpPr txBox="1"/>
          <p:nvPr/>
        </p:nvSpPr>
        <p:spPr>
          <a:xfrm xmlns:a="http://schemas.openxmlformats.org/drawingml/2006/main">
            <a:off x="533400" y="4791075"/>
            <a:ext cx="43815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 A. Marianetti &amp; H. G. Yevick ·</a:t>
            </a:r>
          </a:p>
          <a:p xmlns:a="http://schemas.openxmlformats.org/drawingml/2006/main">
            <a:pPr>
              <a:lnSpc>
                <a:spcPts val="2625"/>
              </a:lnSpc>
            </a:pPr>
            <a:r>
              <a:rPr lang="en-US" sz="2100" b="0">
                <a:solidFill>
                  <a:srgbClr val="162B3A"/>
                </a:solidFill>
                <a:latin typeface="Arial"/>
                <a:ea typeface="Arial"/>
              </a:rPr>
              <a:t>Physical Review Letters 105 (2010)</a:t>
            </a:r>
          </a:p>
        </p:txBody>
      </p:sp>
    </p:spTree>
  </p:cSld>
</p:sld>
</file>

<file path=ppt/slides/slide2.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09"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What limits near-ideal graphene?</a:t>
            </a:r>
          </a:p>
        </p:txBody>
      </p:sp>
      <p:sp>
        <p:nvSpPr>
          <p:cNvPr id="100010"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first failure mechanism under a generic tensile state was still an open question.</a:t>
            </a:r>
          </a:p>
        </p:txBody>
      </p:sp>
      <p:sp>
        <p:nvSpPr>
          <p:cNvPr id="100011"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EV0057 · EV0033 · EV0004 · EV0002</a:t>
            </a:r>
          </a:p>
        </p:txBody>
      </p:sp>
      <p:sp>
        <p:nvSpPr>
          <p:cNvPr id="100012"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The prior experiment and calculations probe different loading contexts.</a:t>
            </a:r>
          </a:p>
        </p:txBody>
      </p:sp>
      <p:sp>
        <p:nvSpPr>
          <p:cNvPr id="100013" name="indentation:label"/>
          <p:cNvSpPr txBox="1"/>
          <p:nvPr/>
        </p:nvSpPr>
        <p:spPr>
          <a:xfrm xmlns:a="http://schemas.openxmlformats.org/drawingml/2006/main">
            <a:off x="533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Nanoindentation</a:t>
            </a:r>
          </a:p>
        </p:txBody>
      </p:sp>
      <p:sp>
        <p:nvSpPr>
          <p:cNvPr id="100014" name="indentation"/>
          <p:cNvSpPr txBox="1"/>
          <p:nvPr/>
        </p:nvSpPr>
        <p:spPr>
          <a:xfrm xmlns:a="http://schemas.openxmlformats.org/drawingml/2006/main">
            <a:off x="5334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Lee et al. strained</a:t>
            </a:r>
          </a:p>
          <a:p xmlns:a="http://schemas.openxmlformats.org/drawingml/2006/main">
            <a:pPr>
              <a:lnSpc>
                <a:spcPts val="2625"/>
              </a:lnSpc>
            </a:pPr>
            <a:r>
              <a:rPr lang="en-US" sz="2100" b="0">
                <a:solidFill>
                  <a:srgbClr val="162B3A"/>
                </a:solidFill>
                <a:latin typeface="Arial"/>
                <a:ea typeface="Arial"/>
              </a:rPr>
              <a:t>graphene to failure</a:t>
            </a:r>
          </a:p>
          <a:p xmlns:a="http://schemas.openxmlformats.org/drawingml/2006/main">
            <a:pPr>
              <a:lnSpc>
                <a:spcPts val="2625"/>
              </a:lnSpc>
            </a:pPr>
            <a:r>
              <a:rPr lang="en-US" sz="2100" b="0">
                <a:solidFill>
                  <a:srgbClr val="162B3A"/>
                </a:solidFill>
                <a:latin typeface="Arial"/>
                <a:ea typeface="Arial"/>
              </a:rPr>
              <a:t>under conditions</a:t>
            </a:r>
          </a:p>
          <a:p xmlns:a="http://schemas.openxmlformats.org/drawingml/2006/main">
            <a:pPr>
              <a:lnSpc>
                <a:spcPts val="2625"/>
              </a:lnSpc>
            </a:pPr>
            <a:r>
              <a:rPr lang="en-US" sz="2100" b="0">
                <a:solidFill>
                  <a:srgbClr val="162B3A"/>
                </a:solidFill>
                <a:latin typeface="Arial"/>
                <a:ea typeface="Arial"/>
              </a:rPr>
              <a:t>described as nearly</a:t>
            </a:r>
          </a:p>
          <a:p xmlns:a="http://schemas.openxmlformats.org/drawingml/2006/main">
            <a:pPr>
              <a:lnSpc>
                <a:spcPts val="2625"/>
              </a:lnSpc>
            </a:pPr>
            <a:r>
              <a:rPr lang="en-US" sz="2100" b="0">
                <a:solidFill>
                  <a:srgbClr val="162B3A"/>
                </a:solidFill>
                <a:latin typeface="Arial"/>
                <a:ea typeface="Arial"/>
              </a:rPr>
              <a:t>ideal.</a:t>
            </a:r>
          </a:p>
        </p:txBody>
      </p:sp>
      <p:sp>
        <p:nvSpPr>
          <p:cNvPr id="100015" name="uniaxial:label"/>
          <p:cNvSpPr txBox="1"/>
          <p:nvPr/>
        </p:nvSpPr>
        <p:spPr>
          <a:xfrm xmlns:a="http://schemas.openxmlformats.org/drawingml/2006/main">
            <a:off x="3390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Uniaxial phonons</a:t>
            </a:r>
          </a:p>
        </p:txBody>
      </p:sp>
      <p:sp>
        <p:nvSpPr>
          <p:cNvPr id="100016" name="uniaxial"/>
          <p:cNvSpPr txBox="1"/>
          <p:nvPr/>
        </p:nvSpPr>
        <p:spPr>
          <a:xfrm xmlns:a="http://schemas.openxmlformats.org/drawingml/2006/main">
            <a:off x="33909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Earlier calculations</a:t>
            </a:r>
          </a:p>
          <a:p xmlns:a="http://schemas.openxmlformats.org/drawingml/2006/main">
            <a:pPr>
              <a:lnSpc>
                <a:spcPts val="2625"/>
              </a:lnSpc>
            </a:pPr>
            <a:r>
              <a:rPr lang="en-US" sz="2100" b="0">
                <a:solidFill>
                  <a:srgbClr val="162B3A"/>
                </a:solidFill>
                <a:latin typeface="Arial"/>
                <a:ea typeface="Arial"/>
              </a:rPr>
              <a:t>found elastic</a:t>
            </a:r>
          </a:p>
          <a:p xmlns:a="http://schemas.openxmlformats.org/drawingml/2006/main">
            <a:pPr>
              <a:lnSpc>
                <a:spcPts val="2625"/>
              </a:lnSpc>
            </a:pPr>
            <a:r>
              <a:rPr lang="en-US" sz="2100" b="0">
                <a:solidFill>
                  <a:srgbClr val="162B3A"/>
                </a:solidFill>
                <a:latin typeface="Arial"/>
                <a:ea typeface="Arial"/>
              </a:rPr>
              <a:t>instability for</a:t>
            </a:r>
          </a:p>
          <a:p xmlns:a="http://schemas.openxmlformats.org/drawingml/2006/main">
            <a:pPr>
              <a:lnSpc>
                <a:spcPts val="2625"/>
              </a:lnSpc>
            </a:pPr>
            <a:r>
              <a:rPr lang="en-US" sz="2100" b="0">
                <a:solidFill>
                  <a:srgbClr val="162B3A"/>
                </a:solidFill>
                <a:latin typeface="Arial"/>
                <a:ea typeface="Arial"/>
              </a:rPr>
              <a:t>armchair or zigzag</a:t>
            </a:r>
          </a:p>
          <a:p xmlns:a="http://schemas.openxmlformats.org/drawingml/2006/main">
            <a:pPr>
              <a:lnSpc>
                <a:spcPts val="2625"/>
              </a:lnSpc>
            </a:pPr>
            <a:r>
              <a:rPr lang="en-US" sz="2100" b="0">
                <a:solidFill>
                  <a:srgbClr val="162B3A"/>
                </a:solidFill>
                <a:latin typeface="Arial"/>
                <a:ea typeface="Arial"/>
              </a:rPr>
              <a:t>loading.</a:t>
            </a:r>
          </a:p>
        </p:txBody>
      </p:sp>
      <p:sp>
        <p:nvSpPr>
          <p:cNvPr id="100017" name="open-question:label"/>
          <p:cNvSpPr txBox="1"/>
          <p:nvPr/>
        </p:nvSpPr>
        <p:spPr>
          <a:xfrm xmlns:a="http://schemas.openxmlformats.org/drawingml/2006/main">
            <a:off x="6248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Open question</a:t>
            </a:r>
          </a:p>
        </p:txBody>
      </p:sp>
      <p:sp>
        <p:nvSpPr>
          <p:cNvPr id="100018" name="open-question"/>
          <p:cNvSpPr txBox="1"/>
          <p:nvPr/>
        </p:nvSpPr>
        <p:spPr>
          <a:xfrm xmlns:a="http://schemas.openxmlformats.org/drawingml/2006/main">
            <a:off x="62484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Which instability</a:t>
            </a:r>
          </a:p>
          <a:p xmlns:a="http://schemas.openxmlformats.org/drawingml/2006/main">
            <a:pPr>
              <a:lnSpc>
                <a:spcPts val="2625"/>
              </a:lnSpc>
            </a:pPr>
            <a:r>
              <a:rPr lang="en-US" sz="2100" b="0">
                <a:solidFill>
                  <a:srgbClr val="162B3A"/>
                </a:solidFill>
                <a:latin typeface="Arial"/>
                <a:ea typeface="Arial"/>
              </a:rPr>
              <a:t>occurs first for a</a:t>
            </a:r>
          </a:p>
          <a:p xmlns:a="http://schemas.openxmlformats.org/drawingml/2006/main">
            <a:pPr>
              <a:lnSpc>
                <a:spcPts val="2625"/>
              </a:lnSpc>
            </a:pPr>
            <a:r>
              <a:rPr lang="en-US" sz="2100" b="0">
                <a:solidFill>
                  <a:srgbClr val="162B3A"/>
                </a:solidFill>
                <a:latin typeface="Arial"/>
                <a:ea typeface="Arial"/>
              </a:rPr>
              <a:t>generic state of</a:t>
            </a:r>
          </a:p>
          <a:p xmlns:a="http://schemas.openxmlformats.org/drawingml/2006/main">
            <a:pPr>
              <a:lnSpc>
                <a:spcPts val="2625"/>
              </a:lnSpc>
            </a:pPr>
            <a:r>
              <a:rPr lang="en-US" sz="2100" b="0">
                <a:solidFill>
                  <a:srgbClr val="162B3A"/>
                </a:solidFill>
                <a:latin typeface="Arial"/>
                <a:ea typeface="Arial"/>
              </a:rPr>
              <a:t>tension?</a:t>
            </a:r>
          </a:p>
        </p:txBody>
      </p:sp>
      <p:sp>
        <p:nvSpPr>
          <p:cNvPr id="100019" name="study:label"/>
          <p:cNvSpPr txBox="1"/>
          <p:nvPr/>
        </p:nvSpPr>
        <p:spPr>
          <a:xfrm xmlns:a="http://schemas.openxmlformats.org/drawingml/2006/main">
            <a:off x="9105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This study</a:t>
            </a:r>
          </a:p>
        </p:txBody>
      </p:sp>
      <p:sp>
        <p:nvSpPr>
          <p:cNvPr id="100020" name="study"/>
          <p:cNvSpPr txBox="1"/>
          <p:nvPr/>
        </p:nvSpPr>
        <p:spPr>
          <a:xfrm xmlns:a="http://schemas.openxmlformats.org/drawingml/2006/main">
            <a:off x="91059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Compare the elastic</a:t>
            </a:r>
          </a:p>
          <a:p xmlns:a="http://schemas.openxmlformats.org/drawingml/2006/main">
            <a:pPr>
              <a:lnSpc>
                <a:spcPts val="2625"/>
              </a:lnSpc>
            </a:pPr>
            <a:r>
              <a:rPr lang="en-US" sz="2100" b="0">
                <a:solidFill>
                  <a:srgbClr val="162B3A"/>
                </a:solidFill>
                <a:latin typeface="Arial"/>
                <a:ea typeface="Arial"/>
              </a:rPr>
              <a:t>limit with a finite-</a:t>
            </a:r>
          </a:p>
          <a:p xmlns:a="http://schemas.openxmlformats.org/drawingml/2006/main">
            <a:pPr>
              <a:lnSpc>
                <a:spcPts val="2625"/>
              </a:lnSpc>
            </a:pPr>
            <a:r>
              <a:rPr lang="en-US" sz="2100" b="0">
                <a:solidFill>
                  <a:srgbClr val="162B3A"/>
                </a:solidFill>
                <a:latin typeface="Arial"/>
                <a:ea typeface="Arial"/>
              </a:rPr>
              <a:t>wave-vector K1</a:t>
            </a:r>
          </a:p>
          <a:p xmlns:a="http://schemas.openxmlformats.org/drawingml/2006/main">
            <a:pPr>
              <a:lnSpc>
                <a:spcPts val="2625"/>
              </a:lnSpc>
            </a:pPr>
            <a:r>
              <a:rPr lang="en-US" sz="2100" b="0">
                <a:solidFill>
                  <a:srgbClr val="162B3A"/>
                </a:solidFill>
                <a:latin typeface="Arial"/>
                <a:ea typeface="Arial"/>
              </a:rPr>
              <a:t>phonon instability.</a:t>
            </a:r>
          </a:p>
        </p:txBody>
      </p:sp>
    </p:spTree>
  </p:cSld>
</p:sld>
</file>

<file path=ppt/slides/slide3.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21"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How are both limits tested?</a:t>
            </a:r>
          </a:p>
        </p:txBody>
      </p:sp>
      <p:sp>
        <p:nvSpPr>
          <p:cNvPr id="100022"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workflow compares elastic instability with the K1-mode onset.</a:t>
            </a:r>
          </a:p>
        </p:txBody>
      </p:sp>
      <p:sp>
        <p:nvSpPr>
          <p:cNvPr id="100023"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EV0004 · EV0009 · EV0017 · EV0025</a:t>
            </a:r>
          </a:p>
        </p:txBody>
      </p:sp>
      <p:sp>
        <p:nvSpPr>
          <p:cNvPr id="100024" name="strain:label"/>
          <p:cNvSpPr txBox="1"/>
          <p:nvPr/>
        </p:nvSpPr>
        <p:spPr>
          <a:xfrm xmlns:a="http://schemas.openxmlformats.org/drawingml/2006/main">
            <a:off x="533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1 · Strain states</a:t>
            </a:r>
          </a:p>
        </p:txBody>
      </p:sp>
      <p:sp>
        <p:nvSpPr>
          <p:cNvPr id="100025" name="strain"/>
          <p:cNvSpPr txBox="1"/>
          <p:nvPr/>
        </p:nvSpPr>
        <p:spPr>
          <a:xfrm xmlns:a="http://schemas.openxmlformats.org/drawingml/2006/main">
            <a:off x="533400" y="2895600"/>
            <a:ext cx="2552700" cy="3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Evaluate strain-</a:t>
            </a:r>
          </a:p>
          <a:p xmlns:a="http://schemas.openxmlformats.org/drawingml/2006/main">
            <a:pPr>
              <a:lnSpc>
                <a:spcPts val="2625"/>
              </a:lnSpc>
            </a:pPr>
            <a:r>
              <a:rPr lang="en-US" sz="2100" b="0">
                <a:solidFill>
                  <a:srgbClr val="162B3A"/>
                </a:solidFill>
                <a:latin typeface="Arial"/>
                <a:ea typeface="Arial"/>
              </a:rPr>
              <a:t>dependent tensile</a:t>
            </a:r>
          </a:p>
          <a:p xmlns:a="http://schemas.openxmlformats.org/drawingml/2006/main">
            <a:pPr>
              <a:lnSpc>
                <a:spcPts val="2625"/>
              </a:lnSpc>
            </a:pPr>
            <a:r>
              <a:rPr lang="en-US" sz="2100" b="0">
                <a:solidFill>
                  <a:srgbClr val="162B3A"/>
                </a:solidFill>
                <a:latin typeface="Arial"/>
                <a:ea typeface="Arial"/>
              </a:rPr>
              <a:t>response, including</a:t>
            </a:r>
          </a:p>
          <a:p xmlns:a="http://schemas.openxmlformats.org/drawingml/2006/main">
            <a:pPr>
              <a:lnSpc>
                <a:spcPts val="2625"/>
              </a:lnSpc>
            </a:pPr>
            <a:r>
              <a:rPr lang="en-US" sz="2100" b="0">
                <a:solidFill>
                  <a:srgbClr val="162B3A"/>
                </a:solidFill>
                <a:latin typeface="Arial"/>
                <a:ea typeface="Arial"/>
              </a:rPr>
              <a:t>equibiaxial loading.</a:t>
            </a:r>
          </a:p>
        </p:txBody>
      </p:sp>
      <p:sp>
        <p:nvSpPr>
          <p:cNvPr id="100026" name="forces:label"/>
          <p:cNvSpPr txBox="1"/>
          <p:nvPr/>
        </p:nvSpPr>
        <p:spPr>
          <a:xfrm xmlns:a="http://schemas.openxmlformats.org/drawingml/2006/main">
            <a:off x="3390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2 · DFT forces</a:t>
            </a:r>
          </a:p>
        </p:txBody>
      </p:sp>
      <p:sp>
        <p:nvSpPr>
          <p:cNvPr id="100027" name="forces"/>
          <p:cNvSpPr txBox="1"/>
          <p:nvPr/>
        </p:nvSpPr>
        <p:spPr>
          <a:xfrm xmlns:a="http://schemas.openxmlformats.org/drawingml/2006/main">
            <a:off x="3390900" y="2895600"/>
            <a:ext cx="2552700" cy="3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Generate strained-</a:t>
            </a:r>
          </a:p>
          <a:p xmlns:a="http://schemas.openxmlformats.org/drawingml/2006/main">
            <a:pPr>
              <a:lnSpc>
                <a:spcPts val="2625"/>
              </a:lnSpc>
            </a:pPr>
            <a:r>
              <a:rPr lang="en-US" sz="2100" b="0">
                <a:solidFill>
                  <a:srgbClr val="162B3A"/>
                </a:solidFill>
                <a:latin typeface="Arial"/>
                <a:ea typeface="Arial"/>
              </a:rPr>
              <a:t>structure forces using</a:t>
            </a:r>
          </a:p>
          <a:p xmlns:a="http://schemas.openxmlformats.org/drawingml/2006/main">
            <a:pPr>
              <a:lnSpc>
                <a:spcPts val="2625"/>
              </a:lnSpc>
            </a:pPr>
            <a:r>
              <a:rPr lang="en-US" sz="2100" b="0">
                <a:solidFill>
                  <a:srgbClr val="162B3A"/>
                </a:solidFill>
                <a:latin typeface="Arial"/>
                <a:ea typeface="Arial"/>
              </a:rPr>
              <a:t>the local density</a:t>
            </a:r>
          </a:p>
          <a:p xmlns:a="http://schemas.openxmlformats.org/drawingml/2006/main">
            <a:pPr>
              <a:lnSpc>
                <a:spcPts val="2625"/>
              </a:lnSpc>
            </a:pPr>
            <a:r>
              <a:rPr lang="en-US" sz="2100" b="0">
                <a:solidFill>
                  <a:srgbClr val="162B3A"/>
                </a:solidFill>
                <a:latin typeface="Arial"/>
                <a:ea typeface="Arial"/>
              </a:rPr>
              <a:t>approximation.</a:t>
            </a:r>
          </a:p>
        </p:txBody>
      </p:sp>
      <p:sp>
        <p:nvSpPr>
          <p:cNvPr id="100028" name="phonons:label"/>
          <p:cNvSpPr txBox="1"/>
          <p:nvPr/>
        </p:nvSpPr>
        <p:spPr>
          <a:xfrm xmlns:a="http://schemas.openxmlformats.org/drawingml/2006/main">
            <a:off x="6248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3 · Phonons</a:t>
            </a:r>
          </a:p>
        </p:txBody>
      </p:sp>
      <p:sp>
        <p:nvSpPr>
          <p:cNvPr id="100029" name="phonons"/>
          <p:cNvSpPr txBox="1"/>
          <p:nvPr/>
        </p:nvSpPr>
        <p:spPr>
          <a:xfrm xmlns:a="http://schemas.openxmlformats.org/drawingml/2006/main">
            <a:off x="6248400" y="2895600"/>
            <a:ext cx="2552700" cy="3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Calculate phonons</a:t>
            </a:r>
          </a:p>
          <a:p xmlns:a="http://schemas.openxmlformats.org/drawingml/2006/main">
            <a:pPr>
              <a:lnSpc>
                <a:spcPts val="2625"/>
              </a:lnSpc>
            </a:pPr>
            <a:r>
              <a:rPr lang="en-US" sz="2100" b="0">
                <a:solidFill>
                  <a:srgbClr val="162B3A"/>
                </a:solidFill>
                <a:latin typeface="Arial"/>
                <a:ea typeface="Arial"/>
              </a:rPr>
              <a:t>with the</a:t>
            </a:r>
          </a:p>
          <a:p xmlns:a="http://schemas.openxmlformats.org/drawingml/2006/main">
            <a:pPr>
              <a:lnSpc>
                <a:spcPts val="2625"/>
              </a:lnSpc>
            </a:pPr>
            <a:r>
              <a:rPr lang="en-US" sz="2100" b="0">
                <a:solidFill>
                  <a:srgbClr val="162B3A"/>
                </a:solidFill>
                <a:latin typeface="Arial"/>
                <a:ea typeface="Arial"/>
              </a:rPr>
              <a:t>displacement method</a:t>
            </a:r>
          </a:p>
          <a:p xmlns:a="http://schemas.openxmlformats.org/drawingml/2006/main">
            <a:pPr>
              <a:lnSpc>
                <a:spcPts val="2625"/>
              </a:lnSpc>
            </a:pPr>
            <a:r>
              <a:rPr lang="en-US" sz="2100" b="0">
                <a:solidFill>
                  <a:srgbClr val="162B3A"/>
                </a:solidFill>
                <a:latin typeface="Arial"/>
                <a:ea typeface="Arial"/>
              </a:rPr>
              <a:t>.</a:t>
            </a:r>
          </a:p>
        </p:txBody>
      </p:sp>
      <p:sp>
        <p:nvSpPr>
          <p:cNvPr id="100030" name="compare:label"/>
          <p:cNvSpPr txBox="1"/>
          <p:nvPr/>
        </p:nvSpPr>
        <p:spPr>
          <a:xfrm xmlns:a="http://schemas.openxmlformats.org/drawingml/2006/main">
            <a:off x="9105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4 · Compare limits</a:t>
            </a:r>
          </a:p>
        </p:txBody>
      </p:sp>
      <p:sp>
        <p:nvSpPr>
          <p:cNvPr id="100031" name="compare"/>
          <p:cNvSpPr txBox="1"/>
          <p:nvPr/>
        </p:nvSpPr>
        <p:spPr>
          <a:xfrm xmlns:a="http://schemas.openxmlformats.org/drawingml/2006/main">
            <a:off x="9105900" y="2895600"/>
            <a:ext cx="2552700" cy="3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Track the elastic</a:t>
            </a:r>
          </a:p>
          <a:p xmlns:a="http://schemas.openxmlformats.org/drawingml/2006/main">
            <a:pPr>
              <a:lnSpc>
                <a:spcPts val="2625"/>
              </a:lnSpc>
            </a:pPr>
            <a:r>
              <a:rPr lang="en-US" sz="2100" b="0">
                <a:solidFill>
                  <a:srgbClr val="162B3A"/>
                </a:solidFill>
                <a:latin typeface="Arial"/>
                <a:ea typeface="Arial"/>
              </a:rPr>
              <a:t>instability against the</a:t>
            </a:r>
          </a:p>
          <a:p xmlns:a="http://schemas.openxmlformats.org/drawingml/2006/main">
            <a:pPr>
              <a:lnSpc>
                <a:spcPts val="2625"/>
              </a:lnSpc>
            </a:pPr>
            <a:r>
              <a:rPr lang="en-US" sz="2100" b="0">
                <a:solidFill>
                  <a:srgbClr val="162B3A"/>
                </a:solidFill>
                <a:latin typeface="Arial"/>
                <a:ea typeface="Arial"/>
              </a:rPr>
              <a:t>K1-mode onset.</a:t>
            </a:r>
          </a:p>
        </p:txBody>
      </p:sp>
    </p:spTree>
  </p:cSld>
</p:sld>
</file>

<file path=ppt/slides/slide4.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3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When does the K1 mode soften?</a:t>
            </a:r>
          </a:p>
        </p:txBody>
      </p:sp>
      <p:sp>
        <p:nvSpPr>
          <p:cNvPr id="10003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Two calculations place K1 softening near ε_A ≈ 0.21.</a:t>
            </a:r>
          </a:p>
        </p:txBody>
      </p:sp>
      <p:sp>
        <p:nvSpPr>
          <p:cNvPr id="10003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EV0055 · EV0025</a:t>
            </a:r>
          </a:p>
        </p:txBody>
      </p:sp>
      <p:sp>
        <p:nvSpPr>
          <p:cNvPr id="100035"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These are calculated thresholds for idealized equibiaxial loading, not measured breaking strains.</a:t>
            </a:r>
          </a:p>
        </p:txBody>
      </p:sp>
      <p:pic>
        <p:nvPicPr>
          <p:cNvPr id="100036" name="figure-1" descr="figure-1: In-plane phonon dispersion branches for unstrained and strained graphene, showing softening toward K1 instability."/>
          <p:cNvPicPr>
            <a:picLocks xmlns:a="http://schemas.openxmlformats.org/drawingml/2006/main" noChangeAspect="1"/>
          </p:cNvPicPr>
          <p:nvPr/>
        </p:nvPicPr>
        <p:blipFill>
          <a:blip xmlns:r="http://schemas.openxmlformats.org/officeDocument/2006/relationships" xmlns:a="http://schemas.openxmlformats.org/drawingml/2006/main" r:embed="Rb6ef5a1f33c64b49"/>
          <a:stretch xmlns:a="http://schemas.openxmlformats.org/drawingml/2006/main">
            <a:fillRect/>
          </a:stretch>
        </p:blipFill>
        <p:spPr>
          <a:xfrm xmlns:a="http://schemas.openxmlformats.org/drawingml/2006/main">
            <a:off x="1706649" y="2476500"/>
            <a:ext cx="4244803" cy="2419350"/>
          </a:xfrm>
          <a:prstGeom xmlns:a="http://schemas.openxmlformats.org/drawingml/2006/main" prst="rect">
            <a:avLst/>
          </a:prstGeom>
        </p:spPr>
      </p:pic>
      <p:sp>
        <p:nvSpPr>
          <p:cNvPr id="100037" name="figure-1:caption"/>
          <p:cNvSpPr txBox="1"/>
          <p:nvPr/>
        </p:nvSpPr>
        <p:spPr>
          <a:xfrm xmlns:a="http://schemas.openxmlformats.org/drawingml/2006/main">
            <a:off x="533400" y="5010150"/>
            <a:ext cx="65913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1. In-plane phonon branches under equibiaxial strain; the K1 mode</a:t>
            </a:r>
          </a:p>
          <a:p xmlns:a="http://schemas.openxmlformats.org/drawingml/2006/main">
            <a:pPr>
              <a:lnSpc>
                <a:spcPts val="1875"/>
              </a:lnSpc>
            </a:pPr>
            <a:r>
              <a:rPr lang="en-US" sz="1500" b="0">
                <a:solidFill>
                  <a:srgbClr val="162B3A"/>
                </a:solidFill>
                <a:latin typeface="Arial"/>
                <a:ea typeface="Arial"/>
              </a:rPr>
              <a:t>approaches instability at K.</a:t>
            </a:r>
          </a:p>
        </p:txBody>
      </p:sp>
      <p:sp>
        <p:nvSpPr>
          <p:cNvPr id="100038" name="phonon-limit:label"/>
          <p:cNvSpPr txBox="1"/>
          <p:nvPr/>
        </p:nvSpPr>
        <p:spPr>
          <a:xfrm xmlns:a="http://schemas.openxmlformats.org/drawingml/2006/main">
            <a:off x="7467600" y="2476500"/>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Phonon threshold</a:t>
            </a:r>
          </a:p>
        </p:txBody>
      </p:sp>
      <p:sp>
        <p:nvSpPr>
          <p:cNvPr id="100039" name="phonon-limit"/>
          <p:cNvSpPr txBox="1"/>
          <p:nvPr/>
        </p:nvSpPr>
        <p:spPr>
          <a:xfrm xmlns:a="http://schemas.openxmlformats.org/drawingml/2006/main">
            <a:off x="7467600" y="2895600"/>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K1 softens at ε_A = 0.205–0.212</a:t>
            </a:r>
          </a:p>
          <a:p xmlns:a="http://schemas.openxmlformats.org/drawingml/2006/main">
            <a:pPr>
              <a:lnSpc>
                <a:spcPts val="2625"/>
              </a:lnSpc>
            </a:pPr>
            <a:r>
              <a:rPr lang="en-US" sz="2100" b="0">
                <a:solidFill>
                  <a:srgbClr val="162B3A"/>
                </a:solidFill>
                <a:latin typeface="Arial"/>
                <a:ea typeface="Arial"/>
              </a:rPr>
              <a:t>under equibiaxial strain.</a:t>
            </a:r>
          </a:p>
        </p:txBody>
      </p:sp>
      <p:sp>
        <p:nvSpPr>
          <p:cNvPr id="100040" name="energy-check:label"/>
          <p:cNvSpPr txBox="1"/>
          <p:nvPr/>
        </p:nvSpPr>
        <p:spPr>
          <a:xfrm xmlns:a="http://schemas.openxmlformats.org/drawingml/2006/main">
            <a:off x="7467600" y="4124325"/>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Independent check</a:t>
            </a:r>
          </a:p>
        </p:txBody>
      </p:sp>
      <p:sp>
        <p:nvSpPr>
          <p:cNvPr id="100041" name="energy-check"/>
          <p:cNvSpPr txBox="1"/>
          <p:nvPr/>
        </p:nvSpPr>
        <p:spPr>
          <a:xfrm xmlns:a="http://schemas.openxmlformats.org/drawingml/2006/main">
            <a:off x="7467600" y="4543425"/>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Mode-energy analysis predicts ε_A</a:t>
            </a:r>
          </a:p>
          <a:p xmlns:a="http://schemas.openxmlformats.org/drawingml/2006/main">
            <a:pPr>
              <a:lnSpc>
                <a:spcPts val="2625"/>
              </a:lnSpc>
            </a:pPr>
            <a:r>
              <a:rPr lang="en-US" sz="2100" b="0">
                <a:solidFill>
                  <a:srgbClr val="162B3A"/>
                </a:solidFill>
                <a:latin typeface="Arial"/>
                <a:ea typeface="Arial"/>
              </a:rPr>
              <a:t>= 0.213, closely matching the</a:t>
            </a:r>
          </a:p>
          <a:p xmlns:a="http://schemas.openxmlformats.org/drawingml/2006/main">
            <a:pPr>
              <a:lnSpc>
                <a:spcPts val="2625"/>
              </a:lnSpc>
            </a:pPr>
            <a:r>
              <a:rPr lang="en-US" sz="2100" b="0">
                <a:solidFill>
                  <a:srgbClr val="162B3A"/>
                </a:solidFill>
                <a:latin typeface="Arial"/>
                <a:ea typeface="Arial"/>
              </a:rPr>
              <a:t>phonon threshold.</a:t>
            </a:r>
          </a:p>
        </p:txBody>
      </p:sp>
    </p:spTree>
  </p:cSld>
</p:sld>
</file>

<file path=ppt/slides/slide5.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4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How can K1 softening reduce strength?</a:t>
            </a:r>
          </a:p>
        </p:txBody>
      </p:sp>
      <p:sp>
        <p:nvSpPr>
          <p:cNvPr id="10004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authors link K1 softening to a structural transition and reduced strength in some tensile</a:t>
            </a:r>
          </a:p>
          <a:p xmlns:a="http://schemas.openxmlformats.org/drawingml/2006/main">
            <a:pPr>
              <a:lnSpc>
                <a:spcPts val="2625"/>
              </a:lnSpc>
            </a:pPr>
            <a:r>
              <a:rPr lang="en-US" sz="2100" b="0">
                <a:solidFill>
                  <a:srgbClr val="162B3A"/>
                </a:solidFill>
                <a:latin typeface="Arial"/>
                <a:ea typeface="Arial"/>
              </a:rPr>
              <a:t>states.</a:t>
            </a:r>
          </a:p>
        </p:txBody>
      </p:sp>
      <p:sp>
        <p:nvSpPr>
          <p:cNvPr id="10004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EV0031 · EV0034 · EV0032</a:t>
            </a:r>
          </a:p>
        </p:txBody>
      </p:sp>
      <p:pic>
        <p:nvPicPr>
          <p:cNvPr id="100045" name="figure-1" descr="figure-1: Nominal stress curves under equibiaxial strain, with a stress drop near the K1 soft-mode onset."/>
          <p:cNvPicPr>
            <a:picLocks xmlns:a="http://schemas.openxmlformats.org/drawingml/2006/main" noChangeAspect="1"/>
          </p:cNvPicPr>
          <p:nvPr/>
        </p:nvPicPr>
        <p:blipFill>
          <a:blip xmlns:r="http://schemas.openxmlformats.org/officeDocument/2006/relationships" xmlns:a="http://schemas.openxmlformats.org/drawingml/2006/main" r:embed="R5da212af6f3b4a8e"/>
          <a:stretch xmlns:a="http://schemas.openxmlformats.org/drawingml/2006/main">
            <a:fillRect/>
          </a:stretch>
        </p:blipFill>
        <p:spPr>
          <a:xfrm xmlns:a="http://schemas.openxmlformats.org/drawingml/2006/main">
            <a:off x="1786356" y="2476500"/>
            <a:ext cx="4085388" cy="2914650"/>
          </a:xfrm>
          <a:prstGeom xmlns:a="http://schemas.openxmlformats.org/drawingml/2006/main" prst="rect">
            <a:avLst/>
          </a:prstGeom>
        </p:spPr>
      </p:pic>
      <p:sp>
        <p:nvSpPr>
          <p:cNvPr id="100046" name="figure-1:caption"/>
          <p:cNvSpPr txBox="1"/>
          <p:nvPr/>
        </p:nvSpPr>
        <p:spPr>
          <a:xfrm xmlns:a="http://schemas.openxmlformats.org/drawingml/2006/main">
            <a:off x="533400" y="5505450"/>
            <a:ext cx="65913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3. Nominal stress versus equibiaxial strain; the K-cell response drops</a:t>
            </a:r>
          </a:p>
          <a:p xmlns:a="http://schemas.openxmlformats.org/drawingml/2006/main">
            <a:pPr>
              <a:lnSpc>
                <a:spcPts val="1875"/>
              </a:lnSpc>
            </a:pPr>
            <a:r>
              <a:rPr lang="en-US" sz="1500" b="0">
                <a:solidFill>
                  <a:srgbClr val="162B3A"/>
                </a:solidFill>
                <a:latin typeface="Arial"/>
                <a:ea typeface="Arial"/>
              </a:rPr>
              <a:t>near K1 softening.</a:t>
            </a:r>
          </a:p>
        </p:txBody>
      </p:sp>
      <p:sp>
        <p:nvSpPr>
          <p:cNvPr id="100047" name="structure:label"/>
          <p:cNvSpPr txBox="1"/>
          <p:nvPr/>
        </p:nvSpPr>
        <p:spPr>
          <a:xfrm xmlns:a="http://schemas.openxmlformats.org/drawingml/2006/main">
            <a:off x="7467600" y="2476500"/>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Structural route</a:t>
            </a:r>
          </a:p>
        </p:txBody>
      </p:sp>
      <p:sp>
        <p:nvSpPr>
          <p:cNvPr id="100048" name="structure"/>
          <p:cNvSpPr txBox="1"/>
          <p:nvPr/>
        </p:nvSpPr>
        <p:spPr>
          <a:xfrm xmlns:a="http://schemas.openxmlformats.org/drawingml/2006/main">
            <a:off x="7467600" y="2895600"/>
            <a:ext cx="41910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authors infer that the</a:t>
            </a:r>
          </a:p>
          <a:p xmlns:a="http://schemas.openxmlformats.org/drawingml/2006/main">
            <a:pPr>
              <a:lnSpc>
                <a:spcPts val="2625"/>
              </a:lnSpc>
            </a:pPr>
            <a:r>
              <a:rPr lang="en-US" sz="2100" b="0">
                <a:solidFill>
                  <a:srgbClr val="162B3A"/>
                </a:solidFill>
                <a:latin typeface="Arial"/>
                <a:ea typeface="Arial"/>
              </a:rPr>
              <a:t>deepening K1 double well leads</a:t>
            </a:r>
          </a:p>
          <a:p xmlns:a="http://schemas.openxmlformats.org/drawingml/2006/main">
            <a:pPr>
              <a:lnSpc>
                <a:spcPts val="2625"/>
              </a:lnSpc>
            </a:pPr>
            <a:r>
              <a:rPr lang="en-US" sz="2100" b="0">
                <a:solidFill>
                  <a:srgbClr val="162B3A"/>
                </a:solidFill>
                <a:latin typeface="Arial"/>
                <a:ea typeface="Arial"/>
              </a:rPr>
              <a:t>toward isolated hexagonal rings.</a:t>
            </a:r>
          </a:p>
        </p:txBody>
      </p:sp>
      <p:sp>
        <p:nvSpPr>
          <p:cNvPr id="100049" name="strength:label"/>
          <p:cNvSpPr txBox="1"/>
          <p:nvPr/>
        </p:nvSpPr>
        <p:spPr>
          <a:xfrm xmlns:a="http://schemas.openxmlformats.org/drawingml/2006/main">
            <a:off x="7467600" y="4371975"/>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Strength implication</a:t>
            </a:r>
          </a:p>
        </p:txBody>
      </p:sp>
      <p:sp>
        <p:nvSpPr>
          <p:cNvPr id="100050" name="strength"/>
          <p:cNvSpPr txBox="1"/>
          <p:nvPr/>
        </p:nvSpPr>
        <p:spPr>
          <a:xfrm xmlns:a="http://schemas.openxmlformats.org/drawingml/2006/main">
            <a:off x="7467600" y="4791075"/>
            <a:ext cx="41910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K-cell stress drops near</a:t>
            </a:r>
          </a:p>
          <a:p xmlns:a="http://schemas.openxmlformats.org/drawingml/2006/main">
            <a:pPr>
              <a:lnSpc>
                <a:spcPts val="2625"/>
              </a:lnSpc>
            </a:pPr>
            <a:r>
              <a:rPr lang="en-US" sz="2100" b="0">
                <a:solidFill>
                  <a:srgbClr val="162B3A"/>
                </a:solidFill>
                <a:latin typeface="Arial"/>
                <a:ea typeface="Arial"/>
              </a:rPr>
              <a:t>softening; the proposed route can</a:t>
            </a:r>
          </a:p>
          <a:p xmlns:a="http://schemas.openxmlformats.org/drawingml/2006/main">
            <a:pPr>
              <a:lnSpc>
                <a:spcPts val="2625"/>
              </a:lnSpc>
            </a:pPr>
            <a:r>
              <a:rPr lang="en-US" sz="2100" b="0">
                <a:solidFill>
                  <a:srgbClr val="162B3A"/>
                </a:solidFill>
                <a:latin typeface="Arial"/>
                <a:ea typeface="Arial"/>
              </a:rPr>
              <a:t>reduce strength.</a:t>
            </a:r>
          </a:p>
        </p:txBody>
      </p:sp>
    </p:spTree>
  </p:cSld>
</p:sld>
</file>

<file path=ppt/slides/slide6.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51"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Tensile state selects the failure mode</a:t>
            </a:r>
          </a:p>
        </p:txBody>
      </p:sp>
      <p:sp>
        <p:nvSpPr>
          <p:cNvPr id="100052"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instability governs regions I and III; the K1 mode occurs first in region II.</a:t>
            </a:r>
          </a:p>
        </p:txBody>
      </p:sp>
      <p:sp>
        <p:nvSpPr>
          <p:cNvPr id="100053"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EV0029 · EV0045 · EV0002</a:t>
            </a:r>
          </a:p>
        </p:txBody>
      </p:sp>
      <p:pic>
        <p:nvPicPr>
          <p:cNvPr id="100054" name="figure-1" descr="figure-1: Failure-mode map separating elastic-instability and K1-instability regions across tensile directions."/>
          <p:cNvPicPr>
            <a:picLocks xmlns:a="http://schemas.openxmlformats.org/drawingml/2006/main" noChangeAspect="1"/>
          </p:cNvPicPr>
          <p:nvPr/>
        </p:nvPicPr>
        <p:blipFill>
          <a:blip xmlns:r="http://schemas.openxmlformats.org/officeDocument/2006/relationships" xmlns:a="http://schemas.openxmlformats.org/drawingml/2006/main" r:embed="R570ad5ad9c4f4c6f"/>
          <a:stretch xmlns:a="http://schemas.openxmlformats.org/drawingml/2006/main">
            <a:fillRect/>
          </a:stretch>
        </p:blipFill>
        <p:spPr>
          <a:xfrm xmlns:a="http://schemas.openxmlformats.org/drawingml/2006/main">
            <a:off x="2227942" y="2476500"/>
            <a:ext cx="3202216" cy="2914650"/>
          </a:xfrm>
          <a:prstGeom xmlns:a="http://schemas.openxmlformats.org/drawingml/2006/main" prst="rect">
            <a:avLst/>
          </a:prstGeom>
        </p:spPr>
      </p:pic>
      <p:sp>
        <p:nvSpPr>
          <p:cNvPr id="100055" name="figure-1:caption"/>
          <p:cNvSpPr txBox="1"/>
          <p:nvPr/>
        </p:nvSpPr>
        <p:spPr>
          <a:xfrm xmlns:a="http://schemas.openxmlformats.org/drawingml/2006/main">
            <a:off x="533400" y="5505450"/>
            <a:ext cx="65913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Maximum stable strain across tensile directions; regions I/III are</a:t>
            </a:r>
          </a:p>
          <a:p xmlns:a="http://schemas.openxmlformats.org/drawingml/2006/main">
            <a:pPr>
              <a:lnSpc>
                <a:spcPts val="1875"/>
              </a:lnSpc>
            </a:pPr>
            <a:r>
              <a:rPr lang="en-US" sz="1500" b="0">
                <a:solidFill>
                  <a:srgbClr val="162B3A"/>
                </a:solidFill>
                <a:latin typeface="Arial"/>
                <a:ea typeface="Arial"/>
              </a:rPr>
              <a:t>elastic-limited and region II is K1-limited.</a:t>
            </a:r>
          </a:p>
        </p:txBody>
      </p:sp>
      <p:sp>
        <p:nvSpPr>
          <p:cNvPr id="100056" name="elastic-regions:label"/>
          <p:cNvSpPr txBox="1"/>
          <p:nvPr/>
        </p:nvSpPr>
        <p:spPr>
          <a:xfrm xmlns:a="http://schemas.openxmlformats.org/drawingml/2006/main">
            <a:off x="7467600" y="2476500"/>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Regions I and III</a:t>
            </a:r>
          </a:p>
        </p:txBody>
      </p:sp>
      <p:sp>
        <p:nvSpPr>
          <p:cNvPr id="100057" name="elastic-regions"/>
          <p:cNvSpPr txBox="1"/>
          <p:nvPr/>
        </p:nvSpPr>
        <p:spPr>
          <a:xfrm xmlns:a="http://schemas.openxmlformats.org/drawingml/2006/main">
            <a:off x="7467600" y="2895600"/>
            <a:ext cx="41910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instability precedes the K1</a:t>
            </a:r>
          </a:p>
          <a:p xmlns:a="http://schemas.openxmlformats.org/drawingml/2006/main">
            <a:pPr>
              <a:lnSpc>
                <a:spcPts val="2625"/>
              </a:lnSpc>
            </a:pPr>
            <a:r>
              <a:rPr lang="en-US" sz="2100" b="0">
                <a:solidFill>
                  <a:srgbClr val="162B3A"/>
                </a:solidFill>
                <a:latin typeface="Arial"/>
                <a:ea typeface="Arial"/>
              </a:rPr>
              <a:t>mode.</a:t>
            </a:r>
          </a:p>
        </p:txBody>
      </p:sp>
      <p:sp>
        <p:nvSpPr>
          <p:cNvPr id="100058" name="k1-region:label"/>
          <p:cNvSpPr txBox="1"/>
          <p:nvPr/>
        </p:nvSpPr>
        <p:spPr>
          <a:xfrm xmlns:a="http://schemas.openxmlformats.org/drawingml/2006/main">
            <a:off x="7467600" y="4371975"/>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Region II</a:t>
            </a:r>
          </a:p>
        </p:txBody>
      </p:sp>
      <p:sp>
        <p:nvSpPr>
          <p:cNvPr id="100059" name="k1-region"/>
          <p:cNvSpPr txBox="1"/>
          <p:nvPr/>
        </p:nvSpPr>
        <p:spPr>
          <a:xfrm xmlns:a="http://schemas.openxmlformats.org/drawingml/2006/main">
            <a:off x="7467600" y="4791075"/>
            <a:ext cx="4191000" cy="1304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K1-mode instability arrives first</a:t>
            </a:r>
          </a:p>
          <a:p xmlns:a="http://schemas.openxmlformats.org/drawingml/2006/main">
            <a:pPr>
              <a:lnSpc>
                <a:spcPts val="2625"/>
              </a:lnSpc>
            </a:pPr>
            <a:r>
              <a:rPr lang="en-US" sz="2100" b="0">
                <a:solidFill>
                  <a:srgbClr val="162B3A"/>
                </a:solidFill>
                <a:latin typeface="Arial"/>
                <a:ea typeface="Arial"/>
              </a:rPr>
              <a:t>; the route changes with tensile</a:t>
            </a:r>
          </a:p>
          <a:p xmlns:a="http://schemas.openxmlformats.org/drawingml/2006/main">
            <a:pPr>
              <a:lnSpc>
                <a:spcPts val="2625"/>
              </a:lnSpc>
            </a:pPr>
            <a:r>
              <a:rPr lang="en-US" sz="2100" b="0">
                <a:solidFill>
                  <a:srgbClr val="162B3A"/>
                </a:solidFill>
                <a:latin typeface="Arial"/>
                <a:ea typeface="Arial"/>
              </a:rPr>
              <a:t>direction.</a:t>
            </a:r>
          </a:p>
        </p:txBody>
      </p:sp>
    </p:spTree>
  </p:cSld>
</p:sld>
</file>

<file path=ppt/slides/slide7.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6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Do orientation and shear matter?</a:t>
            </a:r>
          </a:p>
        </p:txBody>
      </p:sp>
      <p:sp>
        <p:nvSpPr>
          <p:cNvPr id="10006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Rotation and shear make only small changes to the predicted K1 onset, but the state map is</a:t>
            </a:r>
          </a:p>
          <a:p xmlns:a="http://schemas.openxmlformats.org/drawingml/2006/main">
            <a:pPr>
              <a:lnSpc>
                <a:spcPts val="2625"/>
              </a:lnSpc>
            </a:pPr>
            <a:r>
              <a:rPr lang="en-US" sz="2100" b="0">
                <a:solidFill>
                  <a:srgbClr val="162B3A"/>
                </a:solidFill>
                <a:latin typeface="Arial"/>
                <a:ea typeface="Arial"/>
              </a:rPr>
              <a:t>incomplete.</a:t>
            </a:r>
          </a:p>
        </p:txBody>
      </p:sp>
      <p:sp>
        <p:nvSpPr>
          <p:cNvPr id="10006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EV0049 · EV0024 · EV0046 · EV0005</a:t>
            </a:r>
          </a:p>
        </p:txBody>
      </p:sp>
      <p:sp>
        <p:nvSpPr>
          <p:cNvPr id="100063"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Rotation and shear checks do not enumerate every possible tensile state.</a:t>
            </a:r>
          </a:p>
        </p:txBody>
      </p:sp>
      <p:pic>
        <p:nvPicPr>
          <p:cNvPr id="100064" name="figure-1" descr="figure-1: Failure map after a 15-degree rotation of the coordinate system."/>
          <p:cNvPicPr>
            <a:picLocks xmlns:a="http://schemas.openxmlformats.org/drawingml/2006/main" noChangeAspect="1"/>
          </p:cNvPicPr>
          <p:nvPr/>
        </p:nvPicPr>
        <p:blipFill>
          <a:blip xmlns:r="http://schemas.openxmlformats.org/officeDocument/2006/relationships" xmlns:a="http://schemas.openxmlformats.org/drawingml/2006/main" r:embed="Rc7e26095cadf4800"/>
          <a:stretch xmlns:a="http://schemas.openxmlformats.org/drawingml/2006/main">
            <a:fillRect/>
          </a:stretch>
        </p:blipFill>
        <p:spPr>
          <a:xfrm xmlns:a="http://schemas.openxmlformats.org/drawingml/2006/main">
            <a:off x="2517590" y="2476500"/>
            <a:ext cx="2622920" cy="2419350"/>
          </a:xfrm>
          <a:prstGeom xmlns:a="http://schemas.openxmlformats.org/drawingml/2006/main" prst="rect">
            <a:avLst/>
          </a:prstGeom>
        </p:spPr>
      </p:pic>
      <p:sp>
        <p:nvSpPr>
          <p:cNvPr id="100065" name="figure-1:caption"/>
          <p:cNvSpPr txBox="1"/>
          <p:nvPr/>
        </p:nvSpPr>
        <p:spPr>
          <a:xfrm xmlns:a="http://schemas.openxmlformats.org/drawingml/2006/main">
            <a:off x="533400" y="5010150"/>
            <a:ext cx="65913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4(c). At 15° rotation, the failure map remains within the original/rotated</a:t>
            </a:r>
          </a:p>
          <a:p xmlns:a="http://schemas.openxmlformats.org/drawingml/2006/main">
            <a:pPr>
              <a:lnSpc>
                <a:spcPts val="1875"/>
              </a:lnSpc>
            </a:pPr>
            <a:r>
              <a:rPr lang="en-US" sz="1500" b="0">
                <a:solidFill>
                  <a:srgbClr val="162B3A"/>
                </a:solidFill>
                <a:latin typeface="Arial"/>
                <a:ea typeface="Arial"/>
              </a:rPr>
              <a:t>envelope.</a:t>
            </a:r>
          </a:p>
        </p:txBody>
      </p:sp>
      <p:sp>
        <p:nvSpPr>
          <p:cNvPr id="100066" name="rotation:label"/>
          <p:cNvSpPr txBox="1"/>
          <p:nvPr/>
        </p:nvSpPr>
        <p:spPr>
          <a:xfrm xmlns:a="http://schemas.openxmlformats.org/drawingml/2006/main">
            <a:off x="7467600" y="2476500"/>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Rotation</a:t>
            </a:r>
          </a:p>
        </p:txBody>
      </p:sp>
      <p:sp>
        <p:nvSpPr>
          <p:cNvPr id="100067" name="rotation"/>
          <p:cNvSpPr txBox="1"/>
          <p:nvPr/>
        </p:nvSpPr>
        <p:spPr>
          <a:xfrm xmlns:a="http://schemas.openxmlformats.org/drawingml/2006/main">
            <a:off x="7467600" y="2895600"/>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531"/>
              </a:lnSpc>
            </a:pPr>
            <a:r>
              <a:rPr lang="en-US" sz="2025" b="0">
                <a:solidFill>
                  <a:srgbClr val="162B3A"/>
                </a:solidFill>
                <a:latin typeface="Arial"/>
                <a:ea typeface="Arial"/>
              </a:rPr>
              <a:t>The 15° map stays within the</a:t>
            </a:r>
          </a:p>
          <a:p xmlns:a="http://schemas.openxmlformats.org/drawingml/2006/main">
            <a:pPr>
              <a:lnSpc>
                <a:spcPts val="2531"/>
              </a:lnSpc>
            </a:pPr>
            <a:r>
              <a:rPr lang="en-US" sz="2025" b="0">
                <a:solidFill>
                  <a:srgbClr val="162B3A"/>
                </a:solidFill>
                <a:latin typeface="Arial"/>
                <a:ea typeface="Arial"/>
              </a:rPr>
              <a:t>original/rotated envelope;</a:t>
            </a:r>
          </a:p>
          <a:p xmlns:a="http://schemas.openxmlformats.org/drawingml/2006/main">
            <a:pPr>
              <a:lnSpc>
                <a:spcPts val="2531"/>
              </a:lnSpc>
            </a:pPr>
            <a:r>
              <a:rPr lang="en-US" sz="2025" b="0">
                <a:solidFill>
                  <a:srgbClr val="162B3A"/>
                </a:solidFill>
                <a:latin typeface="Arial"/>
                <a:ea typeface="Arial"/>
              </a:rPr>
              <a:t>orientations were sampled every 3°.</a:t>
            </a:r>
          </a:p>
        </p:txBody>
      </p:sp>
      <p:sp>
        <p:nvSpPr>
          <p:cNvPr id="100068" name="shear-scope:label"/>
          <p:cNvSpPr txBox="1"/>
          <p:nvPr/>
        </p:nvSpPr>
        <p:spPr>
          <a:xfrm xmlns:a="http://schemas.openxmlformats.org/drawingml/2006/main">
            <a:off x="7467600" y="4124325"/>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Shear and scope</a:t>
            </a:r>
          </a:p>
        </p:txBody>
      </p:sp>
      <p:sp>
        <p:nvSpPr>
          <p:cNvPr id="100069" name="shear-scope"/>
          <p:cNvSpPr txBox="1"/>
          <p:nvPr/>
        </p:nvSpPr>
        <p:spPr>
          <a:xfrm xmlns:a="http://schemas.openxmlformats.org/drawingml/2006/main">
            <a:off x="7467600" y="4543425"/>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Shear shifts K1 onset only slightly.</a:t>
            </a:r>
          </a:p>
          <a:p xmlns:a="http://schemas.openxmlformats.org/drawingml/2006/main">
            <a:pPr>
              <a:lnSpc>
                <a:spcPts val="2625"/>
              </a:lnSpc>
            </a:pPr>
            <a:r>
              <a:rPr lang="en-US" sz="2100" b="0">
                <a:solidFill>
                  <a:srgbClr val="162B3A"/>
                </a:solidFill>
                <a:latin typeface="Arial"/>
                <a:ea typeface="Arial"/>
              </a:rPr>
              <a:t>Anisotropy leaves some tensile</a:t>
            </a:r>
          </a:p>
          <a:p xmlns:a="http://schemas.openxmlformats.org/drawingml/2006/main">
            <a:pPr>
              <a:lnSpc>
                <a:spcPts val="2625"/>
              </a:lnSpc>
            </a:pPr>
            <a:r>
              <a:rPr lang="en-US" sz="2100" b="0">
                <a:solidFill>
                  <a:srgbClr val="162B3A"/>
                </a:solidFill>
                <a:latin typeface="Arial"/>
                <a:ea typeface="Arial"/>
              </a:rPr>
              <a:t>states untested.</a:t>
            </a:r>
          </a:p>
        </p:txBody>
      </p:sp>
    </p:spTree>
  </p:cSld>
</p:sld>
</file>

<file path=ppt/slides/slide8.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7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Experiment vs prediction?</a:t>
            </a:r>
          </a:p>
        </p:txBody>
      </p:sp>
      <p:sp>
        <p:nvSpPr>
          <p:cNvPr id="10007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measured nominal strain (0.225) is closer to the calculated elastic limit (0.216), but the</a:t>
            </a:r>
          </a:p>
          <a:p xmlns:a="http://schemas.openxmlformats.org/drawingml/2006/main">
            <a:pPr>
              <a:lnSpc>
                <a:spcPts val="2625"/>
              </a:lnSpc>
            </a:pPr>
            <a:r>
              <a:rPr lang="en-US" sz="2100" b="0">
                <a:solidFill>
                  <a:srgbClr val="162B3A"/>
                </a:solidFill>
                <a:latin typeface="Arial"/>
                <a:ea typeface="Arial"/>
              </a:rPr>
              <a:t>failure route remains unresolved.</a:t>
            </a:r>
          </a:p>
        </p:txBody>
      </p:sp>
      <p:sp>
        <p:nvSpPr>
          <p:cNvPr id="10007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EV0054 · EV0028 · EV0021 · EV0020 · EV0014</a:t>
            </a:r>
          </a:p>
        </p:txBody>
      </p:sp>
      <p:sp>
        <p:nvSpPr>
          <p:cNvPr id="100073"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K1 stabilization is a proposed explanation, not a demonstrated mechanism.</a:t>
            </a:r>
          </a:p>
        </p:txBody>
      </p:sp>
      <p:sp>
        <p:nvSpPr>
          <p:cNvPr id="100074" name="measurement:label"/>
          <p:cNvSpPr txBox="1"/>
          <p:nvPr/>
        </p:nvSpPr>
        <p:spPr>
          <a:xfrm xmlns:a="http://schemas.openxmlformats.org/drawingml/2006/main">
            <a:off x="533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Measured</a:t>
            </a:r>
          </a:p>
        </p:txBody>
      </p:sp>
      <p:sp>
        <p:nvSpPr>
          <p:cNvPr id="100075" name="measurement"/>
          <p:cNvSpPr txBox="1"/>
          <p:nvPr/>
        </p:nvSpPr>
        <p:spPr>
          <a:xfrm xmlns:a="http://schemas.openxmlformats.org/drawingml/2006/main">
            <a:off x="5334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Nanoindentation</a:t>
            </a:r>
          </a:p>
          <a:p xmlns:a="http://schemas.openxmlformats.org/drawingml/2006/main">
            <a:pPr>
              <a:lnSpc>
                <a:spcPts val="2625"/>
              </a:lnSpc>
            </a:pPr>
            <a:r>
              <a:rPr lang="en-US" sz="2100" b="0">
                <a:solidFill>
                  <a:srgbClr val="162B3A"/>
                </a:solidFill>
                <a:latin typeface="Arial"/>
                <a:ea typeface="Arial"/>
              </a:rPr>
              <a:t>reports nominal</a:t>
            </a:r>
          </a:p>
          <a:p xmlns:a="http://schemas.openxmlformats.org/drawingml/2006/main">
            <a:pPr>
              <a:lnSpc>
                <a:spcPts val="2625"/>
              </a:lnSpc>
            </a:pPr>
            <a:r>
              <a:rPr lang="en-US" sz="2100" b="0">
                <a:solidFill>
                  <a:srgbClr val="162B3A"/>
                </a:solidFill>
                <a:latin typeface="Arial"/>
                <a:ea typeface="Arial"/>
              </a:rPr>
              <a:t>equibiaxial breaking</a:t>
            </a:r>
          </a:p>
          <a:p xmlns:a="http://schemas.openxmlformats.org/drawingml/2006/main">
            <a:pPr>
              <a:lnSpc>
                <a:spcPts val="2625"/>
              </a:lnSpc>
            </a:pPr>
            <a:r>
              <a:rPr lang="en-US" sz="2100" b="0">
                <a:solidFill>
                  <a:srgbClr val="162B3A"/>
                </a:solidFill>
                <a:latin typeface="Arial"/>
                <a:ea typeface="Arial"/>
              </a:rPr>
              <a:t>strain 0.225.</a:t>
            </a:r>
          </a:p>
        </p:txBody>
      </p:sp>
      <p:sp>
        <p:nvSpPr>
          <p:cNvPr id="100076" name="elastic-limit:label"/>
          <p:cNvSpPr txBox="1"/>
          <p:nvPr/>
        </p:nvSpPr>
        <p:spPr>
          <a:xfrm xmlns:a="http://schemas.openxmlformats.org/drawingml/2006/main">
            <a:off x="3390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250"/>
              </a:lnSpc>
            </a:pPr>
            <a:r>
              <a:rPr lang="en-US" sz="1800" b="1">
                <a:solidFill>
                  <a:srgbClr val="162B3A"/>
                </a:solidFill>
                <a:latin typeface="Arial"/>
                <a:ea typeface="Arial"/>
              </a:rPr>
              <a:t>Calculated elastic limit</a:t>
            </a:r>
          </a:p>
        </p:txBody>
      </p:sp>
      <p:sp>
        <p:nvSpPr>
          <p:cNvPr id="100077" name="elastic-limit"/>
          <p:cNvSpPr txBox="1"/>
          <p:nvPr/>
        </p:nvSpPr>
        <p:spPr>
          <a:xfrm xmlns:a="http://schemas.openxmlformats.org/drawingml/2006/main">
            <a:off x="33909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equibiaxial</a:t>
            </a:r>
          </a:p>
          <a:p xmlns:a="http://schemas.openxmlformats.org/drawingml/2006/main">
            <a:pPr>
              <a:lnSpc>
                <a:spcPts val="2625"/>
              </a:lnSpc>
            </a:pPr>
            <a:r>
              <a:rPr lang="en-US" sz="2100" b="0">
                <a:solidFill>
                  <a:srgbClr val="162B3A"/>
                </a:solidFill>
                <a:latin typeface="Arial"/>
                <a:ea typeface="Arial"/>
              </a:rPr>
              <a:t>elastic-instability</a:t>
            </a:r>
          </a:p>
          <a:p xmlns:a="http://schemas.openxmlformats.org/drawingml/2006/main">
            <a:pPr>
              <a:lnSpc>
                <a:spcPts val="2625"/>
              </a:lnSpc>
            </a:pPr>
            <a:r>
              <a:rPr lang="en-US" sz="2100" b="0">
                <a:solidFill>
                  <a:srgbClr val="162B3A"/>
                </a:solidFill>
                <a:latin typeface="Arial"/>
                <a:ea typeface="Arial"/>
              </a:rPr>
              <a:t>strain is 0.216.</a:t>
            </a:r>
          </a:p>
        </p:txBody>
      </p:sp>
      <p:sp>
        <p:nvSpPr>
          <p:cNvPr id="100078" name="stabilization:label"/>
          <p:cNvSpPr txBox="1"/>
          <p:nvPr/>
        </p:nvSpPr>
        <p:spPr>
          <a:xfrm xmlns:a="http://schemas.openxmlformats.org/drawingml/2006/main">
            <a:off x="62484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Authors’ proposal</a:t>
            </a:r>
          </a:p>
        </p:txBody>
      </p:sp>
      <p:sp>
        <p:nvSpPr>
          <p:cNvPr id="100079" name="stabilization"/>
          <p:cNvSpPr txBox="1"/>
          <p:nvPr/>
        </p:nvSpPr>
        <p:spPr>
          <a:xfrm xmlns:a="http://schemas.openxmlformats.org/drawingml/2006/main">
            <a:off x="62484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K1 mode may be</a:t>
            </a:r>
          </a:p>
          <a:p xmlns:a="http://schemas.openxmlformats.org/drawingml/2006/main">
            <a:pPr>
              <a:lnSpc>
                <a:spcPts val="2625"/>
              </a:lnSpc>
            </a:pPr>
            <a:r>
              <a:rPr lang="en-US" sz="2100" b="0">
                <a:solidFill>
                  <a:srgbClr val="162B3A"/>
                </a:solidFill>
                <a:latin typeface="Arial"/>
                <a:ea typeface="Arial"/>
              </a:rPr>
              <a:t>stabilized during</a:t>
            </a:r>
          </a:p>
          <a:p xmlns:a="http://schemas.openxmlformats.org/drawingml/2006/main">
            <a:pPr>
              <a:lnSpc>
                <a:spcPts val="2625"/>
              </a:lnSpc>
            </a:pPr>
            <a:r>
              <a:rPr lang="en-US" sz="2100" b="0">
                <a:solidFill>
                  <a:srgbClr val="162B3A"/>
                </a:solidFill>
                <a:latin typeface="Arial"/>
                <a:ea typeface="Arial"/>
              </a:rPr>
              <a:t>nanoindentation.</a:t>
            </a:r>
          </a:p>
        </p:txBody>
      </p:sp>
      <p:sp>
        <p:nvSpPr>
          <p:cNvPr id="100080" name="alternatives:label"/>
          <p:cNvSpPr txBox="1"/>
          <p:nvPr/>
        </p:nvSpPr>
        <p:spPr>
          <a:xfrm xmlns:a="http://schemas.openxmlformats.org/drawingml/2006/main">
            <a:off x="9105900" y="2476500"/>
            <a:ext cx="2552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531"/>
              </a:lnSpc>
            </a:pPr>
            <a:r>
              <a:rPr lang="en-US" sz="2025" b="1">
                <a:solidFill>
                  <a:srgbClr val="162B3A"/>
                </a:solidFill>
                <a:latin typeface="Arial"/>
                <a:ea typeface="Arial"/>
              </a:rPr>
              <a:t>Possible differences</a:t>
            </a:r>
          </a:p>
        </p:txBody>
      </p:sp>
      <p:sp>
        <p:nvSpPr>
          <p:cNvPr id="100081" name="alternatives"/>
          <p:cNvSpPr txBox="1"/>
          <p:nvPr/>
        </p:nvSpPr>
        <p:spPr>
          <a:xfrm xmlns:a="http://schemas.openxmlformats.org/drawingml/2006/main">
            <a:off x="9105900" y="2895600"/>
            <a:ext cx="2552700" cy="27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Indenter environment</a:t>
            </a:r>
          </a:p>
          <a:p xmlns:a="http://schemas.openxmlformats.org/drawingml/2006/main">
            <a:pPr>
              <a:lnSpc>
                <a:spcPts val="2625"/>
              </a:lnSpc>
            </a:pPr>
            <a:r>
              <a:rPr lang="en-US" sz="2100" b="0">
                <a:solidFill>
                  <a:srgbClr val="162B3A"/>
                </a:solidFill>
                <a:latin typeface="Arial"/>
                <a:ea typeface="Arial"/>
              </a:rPr>
              <a:t>and strain</a:t>
            </a:r>
          </a:p>
          <a:p xmlns:a="http://schemas.openxmlformats.org/drawingml/2006/main">
            <a:pPr>
              <a:lnSpc>
                <a:spcPts val="2625"/>
              </a:lnSpc>
            </a:pPr>
            <a:r>
              <a:rPr lang="en-US" sz="2100" b="0">
                <a:solidFill>
                  <a:srgbClr val="162B3A"/>
                </a:solidFill>
                <a:latin typeface="Arial"/>
                <a:ea typeface="Arial"/>
              </a:rPr>
              <a:t>construction may</a:t>
            </a:r>
          </a:p>
          <a:p xmlns:a="http://schemas.openxmlformats.org/drawingml/2006/main">
            <a:pPr>
              <a:lnSpc>
                <a:spcPts val="2625"/>
              </a:lnSpc>
            </a:pPr>
            <a:r>
              <a:rPr lang="en-US" sz="2100" b="0">
                <a:solidFill>
                  <a:srgbClr val="162B3A"/>
                </a:solidFill>
                <a:latin typeface="Arial"/>
                <a:ea typeface="Arial"/>
              </a:rPr>
              <a:t>affect the comparison</a:t>
            </a:r>
          </a:p>
          <a:p xmlns:a="http://schemas.openxmlformats.org/drawingml/2006/main">
            <a:pPr>
              <a:lnSpc>
                <a:spcPts val="2625"/>
              </a:lnSpc>
            </a:pPr>
            <a:r>
              <a:rPr lang="en-US" sz="2100" b="0">
                <a:solidFill>
                  <a:srgbClr val="162B3A"/>
                </a:solidFill>
                <a:latin typeface="Arial"/>
                <a:ea typeface="Arial"/>
              </a:rPr>
              <a:t>.</a:t>
            </a:r>
          </a:p>
        </p:txBody>
      </p:sp>
    </p:spTree>
  </p:cSld>
</p:sld>
</file>

<file path=ppt/slides/slide9.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8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Conclusions and limits</a:t>
            </a:r>
          </a:p>
        </p:txBody>
      </p:sp>
      <p:sp>
        <p:nvSpPr>
          <p:cNvPr id="10008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Tensile state selects whether elastic instability or a K1 soft mode limits strength.</a:t>
            </a:r>
          </a:p>
        </p:txBody>
      </p:sp>
      <p:sp>
        <p:nvSpPr>
          <p:cNvPr id="10008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EV0029 · EV0034 · EV0002 · EV0054 · EV0021 · EV0005</a:t>
            </a:r>
          </a:p>
        </p:txBody>
      </p:sp>
      <p:sp>
        <p:nvSpPr>
          <p:cNvPr id="100085"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PaperWorkflow evidence coverage is under review; the paper also notes that rotation/shear sampling is not exhaustive.</a:t>
            </a:r>
          </a:p>
        </p:txBody>
      </p:sp>
      <p:pic>
        <p:nvPicPr>
          <p:cNvPr id="100086" name="figure-1" descr="figure-1: Summary of elastic-limited and K1-limited failure regions across tensile directions."/>
          <p:cNvPicPr>
            <a:picLocks xmlns:a="http://schemas.openxmlformats.org/drawingml/2006/main" noChangeAspect="1"/>
          </p:cNvPicPr>
          <p:nvPr/>
        </p:nvPicPr>
        <p:blipFill>
          <a:blip xmlns:r="http://schemas.openxmlformats.org/officeDocument/2006/relationships" xmlns:a="http://schemas.openxmlformats.org/drawingml/2006/main" r:embed="Rb59823cd6b384317"/>
          <a:stretch xmlns:a="http://schemas.openxmlformats.org/drawingml/2006/main">
            <a:fillRect/>
          </a:stretch>
        </p:blipFill>
        <p:spPr>
          <a:xfrm xmlns:a="http://schemas.openxmlformats.org/drawingml/2006/main">
            <a:off x="2500026" y="2476500"/>
            <a:ext cx="2658048" cy="2419350"/>
          </a:xfrm>
          <a:prstGeom xmlns:a="http://schemas.openxmlformats.org/drawingml/2006/main" prst="rect">
            <a:avLst/>
          </a:prstGeom>
        </p:spPr>
      </p:pic>
      <p:sp>
        <p:nvSpPr>
          <p:cNvPr id="100087" name="figure-1:caption"/>
          <p:cNvSpPr txBox="1"/>
          <p:nvPr/>
        </p:nvSpPr>
        <p:spPr>
          <a:xfrm xmlns:a="http://schemas.openxmlformats.org/drawingml/2006/main">
            <a:off x="533400" y="5010150"/>
            <a:ext cx="65913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The loading-direction map summarizes where elastic and K1-mode</a:t>
            </a:r>
          </a:p>
          <a:p xmlns:a="http://schemas.openxmlformats.org/drawingml/2006/main">
            <a:pPr>
              <a:lnSpc>
                <a:spcPts val="1875"/>
              </a:lnSpc>
            </a:pPr>
            <a:r>
              <a:rPr lang="en-US" sz="1500" b="0">
                <a:solidFill>
                  <a:srgbClr val="162B3A"/>
                </a:solidFill>
                <a:latin typeface="Arial"/>
                <a:ea typeface="Arial"/>
              </a:rPr>
              <a:t>instabilities occur first.</a:t>
            </a:r>
          </a:p>
        </p:txBody>
      </p:sp>
      <p:sp>
        <p:nvSpPr>
          <p:cNvPr id="100088" name="mode-selection:label"/>
          <p:cNvSpPr txBox="1"/>
          <p:nvPr/>
        </p:nvSpPr>
        <p:spPr>
          <a:xfrm xmlns:a="http://schemas.openxmlformats.org/drawingml/2006/main">
            <a:off x="7467600" y="2476500"/>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Mode selection</a:t>
            </a:r>
          </a:p>
        </p:txBody>
      </p:sp>
      <p:sp>
        <p:nvSpPr>
          <p:cNvPr id="100089" name="mode-selection"/>
          <p:cNvSpPr txBox="1"/>
          <p:nvPr/>
        </p:nvSpPr>
        <p:spPr>
          <a:xfrm xmlns:a="http://schemas.openxmlformats.org/drawingml/2006/main">
            <a:off x="7467600" y="2895600"/>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failure in regions I/III; K1</a:t>
            </a:r>
          </a:p>
          <a:p xmlns:a="http://schemas.openxmlformats.org/drawingml/2006/main">
            <a:pPr>
              <a:lnSpc>
                <a:spcPts val="2625"/>
              </a:lnSpc>
            </a:pPr>
            <a:r>
              <a:rPr lang="en-US" sz="2100" b="0">
                <a:solidFill>
                  <a:srgbClr val="162B3A"/>
                </a:solidFill>
                <a:latin typeface="Arial"/>
                <a:ea typeface="Arial"/>
              </a:rPr>
              <a:t>soft-mode failure in region II.</a:t>
            </a:r>
          </a:p>
        </p:txBody>
      </p:sp>
      <p:sp>
        <p:nvSpPr>
          <p:cNvPr id="100090" name="limits:label"/>
          <p:cNvSpPr txBox="1"/>
          <p:nvPr/>
        </p:nvSpPr>
        <p:spPr>
          <a:xfrm xmlns:a="http://schemas.openxmlformats.org/drawingml/2006/main">
            <a:off x="7467600" y="4124325"/>
            <a:ext cx="4191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Open limits</a:t>
            </a:r>
          </a:p>
        </p:txBody>
      </p:sp>
      <p:sp>
        <p:nvSpPr>
          <p:cNvPr id="100091" name="limits"/>
          <p:cNvSpPr txBox="1"/>
          <p:nvPr/>
        </p:nvSpPr>
        <p:spPr>
          <a:xfrm xmlns:a="http://schemas.openxmlformats.org/drawingml/2006/main">
            <a:off x="7467600" y="4543425"/>
            <a:ext cx="4191000" cy="1057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Indentation leaves the route</a:t>
            </a:r>
          </a:p>
          <a:p xmlns:a="http://schemas.openxmlformats.org/drawingml/2006/main">
            <a:pPr>
              <a:lnSpc>
                <a:spcPts val="2625"/>
              </a:lnSpc>
            </a:pPr>
            <a:r>
              <a:rPr lang="en-US" sz="2100" b="0">
                <a:solidFill>
                  <a:srgbClr val="162B3A"/>
                </a:solidFill>
                <a:latin typeface="Arial"/>
                <a:ea typeface="Arial"/>
              </a:rPr>
              <a:t>unresolved; rotation/shear</a:t>
            </a:r>
          </a:p>
          <a:p xmlns:a="http://schemas.openxmlformats.org/drawingml/2006/main">
            <a:pPr>
              <a:lnSpc>
                <a:spcPts val="2625"/>
              </a:lnSpc>
            </a:pPr>
            <a:r>
              <a:rPr lang="en-US" sz="2100" b="0">
                <a:solidFill>
                  <a:srgbClr val="162B3A"/>
                </a:solidFill>
                <a:latin typeface="Arial"/>
                <a:ea typeface="Arial"/>
              </a:rPr>
              <a:t>sampling is incomplete.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等线"/>
        <a:cs typeface=""/>
      </a:majorFont>
      <a:minorFont>
        <a:latin typeface="Calibri"/>
        <a:ea typeface="等线"/>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2026-09-27T03:06:22.0000000Z</dcterms:created>
  <lastModifiedBy>OfficeCLI</lastModifiedBy>
  <dcterms:modified xsi:type="dcterms:W3CDTF">2026-09-27T03:06:23.0750772Z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2026-09-27T03:06:24Z</vt:lpwstr>
  </op:property>
</op:Properties>
</file>