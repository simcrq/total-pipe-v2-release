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jpg" ContentType="image/jpe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368ead5704884374" /><Relationship Type="http://schemas.openxmlformats.org/package/2006/relationships/metadata/core-properties" Target="/docProps/core.xml" Id="R04517a0da95d4579" /><Relationship Type="http://schemas.openxmlformats.org/officeDocument/2006/relationships/extended-properties" Target="/docProps/app.xml" Id="Rc9edbea93f014c9e" /><Relationship Type="http://schemas.openxmlformats.org/officeDocument/2006/relationships/custom-properties" Target="/docProps/custom.xml" Id="Re0f7edbee2f546f3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6e0393fca13a43a8"/>
  </p:notesMasterIdLst>
  <p:sldIdLst>
    <p:sldId id="256" r:id="R21eedbc5840b4068"/>
  </p:sldIdLst>
  <p:sldSz cx="12192000" cy="6858000" type="custom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21eedbc5840b4068" /><Relationship Type="http://schemas.openxmlformats.org/officeDocument/2006/relationships/notesMaster" Target="/ppt/notesMasters/notesMaster1.xml" Id="R6e0393fca13a43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a5d98b952974f31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等线"/>
        <a:cs typeface=""/>
      </a:majorFont>
      <a:minorFont>
        <a:latin typeface="Calibri"/>
        <a:ea typeface="等线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8da0e9448bc4372" /><Relationship Type="http://schemas.openxmlformats.org/officeDocument/2006/relationships/slide" Target="/ppt/slides/slide1.xml" Id="Rc9b8dd766bf849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软件混排示例。平台图片沿用用户参考页的原始裁图，不作为独立科研证据。矩阵和响应函数为演示计算模型，不代表图片所示平台的实测结果。A 为对称正定矩阵，L 为其下三角 Cholesky 因子。原始图片为 126×114 px，未重绘或声称更高分辨率。 集成光子芯片图案由 Deck IR graphics/path 绘制，包含等距基底、双微环、弯曲波导、电极及输入输出光束；属于概念图案，不代表实际器件拓扑或实验数据。</a:t>
            </a:r>
          </a:p>
          <a:p xmlns:a="http://schemas.openxmlformats.org/drawingml/2006/main">
            <a:r>
              <a:rPr lang="en-US"/>
              <a:t>Evidence: fixture:complex-mixed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903c757d3f43e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1a051fdf7544b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54399ac84148b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d1061563234a1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eecd08093d4889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07741c4722094753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8ae99a968b49e1" /><Relationship Type="http://schemas.openxmlformats.org/officeDocument/2006/relationships/image" Target="/ppt/media/image.jpg" Id="R947fc4e9ba1448f6" /><Relationship Type="http://schemas.openxmlformats.org/officeDocument/2006/relationships/image" Target="/ppt/media/image2.jpg" Id="R9b2bb2639f0548ce" /><Relationship Type="http://schemas.openxmlformats.org/officeDocument/2006/relationships/notesSlide" Target="/ppt/notesSlides/notesSlide1.xml" Id="R13790175669f4741" /></Relationships>
</file>

<file path=ppt/slides/slide1.xml><?xml version="1.0" encoding="utf-8"?>
<p:sld xmlns:p="http://schemas.openxmlformats.org/presentationml/2006/main" xmlns:mc="http://schemas.openxmlformats.org/markup-compatibility/2006" xmlns:a="http://schemas.openxmlformats.org/drawingml/2006/main" xmlns:m="http://schemas.openxmlformats.org/officeDocument/2006/math" xmlns:r="http://schemas.openxmlformats.org/officeDocument/2006/relationships" xmlns:a14="http://schemas.microsoft.com/office/drawing/2010/main" mc:Ignorable="a14">
  <p:cSld xmlns:p="http://schemas.openxmlformats.org/presentationml/2006/main" xmlns:a14="http://schemas.microsoft.com/office/drawing/2010/main" xmlns:mc="http://schemas.openxmlformats.org/markup-compatibility/2006" xmlns:a="http://schemas.openxmlformats.org/drawingml/2006/main" xmlns:m="http://schemas.openxmlformats.org/officeDocument/2006/math" xmlns:r="http://schemas.openxmlformats.org/officeDocument/2006/relationships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0" name="title"/>
          <p:cNvSpPr txBox="1"/>
          <p:nvPr/>
        </p:nvSpPr>
        <p:spPr>
          <a:xfrm xmlns:a="http://schemas.openxmlformats.org/drawingml/2006/main">
            <a:off x="533400" y="22860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3750"/>
              </a:lnSpc>
            </a:pPr>
            <a:r>
              <a:rPr lang="en-US" sz="3000" b="1">
                <a:solidFill>
                  <a:srgbClr val="142735"/>
                </a:solidFill>
                <a:latin typeface="Microsoft YaHei"/>
                <a:ea typeface="Microsoft YaHei"/>
              </a:rPr>
              <a:t>光学表征平台与矩阵计算示例</a:t>
            </a:r>
          </a:p>
        </p:txBody>
      </p:sp>
      <p:sp>
        <p:nvSpPr>
          <p:cNvPr id="100001" name="takeaway:frame"/>
          <p:cNvSpPr/>
          <p:nvPr/>
        </p:nvSpPr>
        <p:spPr>
          <a:xfrm xmlns:a="http://schemas.openxmlformats.org/drawingml/2006/main">
            <a:off x="538162" y="957262"/>
            <a:ext cx="111156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4CED9"/>
            </a:solidFill>
          </a:ln>
        </p:spPr>
        <p:txBody>
          <a:bodyPr xmlns:a="http://schemas.openxmlformats.org/drawingml/2006/main" wrap="none"/>
          <a:lstStyle xmlns:a="http://schemas.openxmlformats.org/drawingml/2006/main"/>
          <a:p xmlns:a="http://schemas.openxmlformats.org/drawingml/2006/main"/>
        </p:txBody>
      </p:sp>
      <p:sp>
        <p:nvSpPr>
          <p:cNvPr id="100002" name="takeaway"/>
          <p:cNvSpPr txBox="1"/>
          <p:nvPr/>
        </p:nvSpPr>
        <p:spPr>
          <a:xfrm xmlns:a="http://schemas.openxmlformats.org/drawingml/2006/main">
            <a:off x="657225" y="1076325"/>
            <a:ext cx="108775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 xmlns:a="http://schemas.openxmlformats.org/drawingml/2006/main" xmlns:a14="http://schemas.microsoft.com/office/drawing/2010/main" xmlns:m="http://schemas.openxmlformats.org/officeDocument/2006/math" xmlns:mc="http://schemas.openxmlformats.org/markup-compatibility/2006" xmlns:p="http://schemas.openxmlformats.org/presentationml/2006/main">
          <a:bodyPr wrap="none" lIns="0" tIns="0" rIns="0" bIns="0" anchor="t">
            <a:noAutofit/>
          </a:bodyPr>
          <a:lstStyle/>
          <a:p>
            <a:pPr marL="400050" indent="-400050" algn="l">
              <a:lnSpc>
                <a:spcPts val="24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/>
              <a:buChar char=""/>
              <a:defRPr lang="zh-CN" sz="180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80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 xml:space="preserve">示例矩阵满足 </a:t>
            </a:r>
            <mc:AlternateContent>
              <mc:Choice Requires="a14">
                <a14:m>
                  <m:oMath xmlns:m="http://schemas.openxmlformats.org/officeDocument/2006/math">
                    <m:r>
                      <a:rPr xmlns:a="http://schemas.openxmlformats.org/drawingml/2006/main" lang="en-US" sz="1800">
                        <a:solidFill>
                          <a:srgbClr val="142735"/>
                        </a:solidFill>
                        <a:latin typeface="Cambria Math"/>
                      </a:rPr>
                      <m:t xml:space="preserve">A</m:t>
                    </m:r>
                    <m:r>
                      <a:rPr xmlns:a="http://schemas.openxmlformats.org/drawingml/2006/main" lang="en-US" sz="1800">
                        <a:solidFill>
                          <a:srgbClr val="142735"/>
                        </a:solidFill>
                        <a:latin typeface="Cambria Math"/>
                      </a:rPr>
                      <m:t xml:space="preserve">=</m:t>
                    </m:r>
                    <m:r>
                      <a:rPr xmlns:a="http://schemas.openxmlformats.org/drawingml/2006/main" lang="en-US" sz="1800">
                        <a:solidFill>
                          <a:srgbClr val="142735"/>
                        </a:solidFill>
                        <a:latin typeface="Cambria Math"/>
                      </a:rPr>
                      <m:t xml:space="preserve">L</m:t>
                    </m:r>
                    <m:sSup>
                      <m:e>
                        <m:r>
                          <a:rPr xmlns:a="http://schemas.openxmlformats.org/drawingml/2006/main" lang="en-US" sz="1800">
                            <a:solidFill>
                              <a:srgbClr val="142735"/>
                            </a:solidFill>
                            <a:latin typeface="Cambria Math"/>
                          </a:rPr>
                          <m:t xml:space="preserve">L</m:t>
                        </m:r>
                      </m:e>
                      <m:sup>
                        <m:r>
                          <a:rPr xmlns:a="http://schemas.openxmlformats.org/drawingml/2006/main" lang="en-US" sz="1800">
                            <a:solidFill>
                              <a:srgbClr val="142735"/>
                            </a:solidFill>
                            <a:latin typeface="Cambria Math"/>
                          </a:rPr>
                          <m:t xml:space="preserve">T</m:t>
                        </m:r>
                      </m:sup>
                    </m:sSup>
                  </m:oMath>
                </a14:m>
              </mc:Choice>
              <mc:Fallback>
                <a:r>
                  <a:rPr lang="zh-CN" sz="1800" b="0">
                    <a:solidFill>
                      <a:srgbClr val="142735"/>
                    </a:solidFill>
                    <a:latin typeface="Microsoft YaHei"/>
                    <a:ea typeface="Microsoft YaHei"/>
                    <a:cs typeface="Microsoft YaHei"/>
                  </a:rPr>
                  <a:t>A=LL^T</a:t>
                </a:r>
              </mc:Fallback>
            </mc:AlternateContent>
            <a:r>
              <a:rPr lang="zh-CN" sz="180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 xml:space="preserve">，响应函数满足 </a:t>
            </a:r>
            <mc:AlternateContent>
              <mc:Choice Requires="a14">
                <a14:m>
                  <m:oMath xmlns:m="http://schemas.openxmlformats.org/officeDocument/2006/math">
                    <m:r>
                      <a:rPr xmlns:a="http://schemas.openxmlformats.org/drawingml/2006/main" lang="en-US" sz="1800">
                        <a:solidFill>
                          <a:srgbClr val="142735"/>
                        </a:solidFill>
                        <a:latin typeface="Cambria Math"/>
                      </a:rPr>
                      <m:t xml:space="preserve">q</m:t>
                    </m:r>
                    <m:d>
                      <m:dPr>
                        <m:begChr m:val="("/>
                        <m:endChr m:val=")"/>
                        <m:grow m:val="1"/>
                        <m:shp m:val="match"/>
                        <m:ctrlPr>
                          <a:rPr xmlns:a="http://schemas.openxmlformats.org/drawingml/2006/main" lang="en-US" sz="1800">
                            <a:solidFill>
                              <a:srgbClr val="142735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xmlns:a="http://schemas.openxmlformats.org/drawingml/2006/main" lang="en-US" sz="1800">
                            <a:solidFill>
                              <a:srgbClr val="142735"/>
                            </a:solidFill>
                            <a:latin typeface="Cambria Math"/>
                          </a:rPr>
                          <m:t xml:space="preserve">0</m:t>
                        </m:r>
                      </m:e>
                    </m:d>
                    <m:r>
                      <a:rPr xmlns:a="http://schemas.openxmlformats.org/drawingml/2006/main" lang="en-US" sz="1800">
                        <a:solidFill>
                          <a:srgbClr val="142735"/>
                        </a:solidFill>
                        <a:latin typeface="Cambria Math"/>
                      </a:rPr>
                      <m:t xml:space="preserve">=</m:t>
                    </m:r>
                    <m:r>
                      <a:rPr xmlns:a="http://schemas.openxmlformats.org/drawingml/2006/main" lang="en-US" sz="1800">
                        <a:solidFill>
                          <a:srgbClr val="142735"/>
                        </a:solidFill>
                        <a:latin typeface="Cambria Math"/>
                      </a:rPr>
                      <m:t xml:space="preserve">1</m:t>
                    </m:r>
                  </m:oMath>
                </a14:m>
              </mc:Choice>
              <mc:Fallback>
                <a:r>
                  <a:rPr lang="zh-CN" sz="1800" b="0">
                    <a:solidFill>
                      <a:srgbClr val="142735"/>
                    </a:solidFill>
                    <a:latin typeface="Microsoft YaHei"/>
                    <a:ea typeface="Microsoft YaHei"/>
                    <a:cs typeface="Microsoft YaHei"/>
                  </a:rPr>
                  <a:t>q(0)=1</a:t>
                </a:r>
              </mc:Fallback>
            </mc:AlternateContent>
            <a:r>
              <a:rPr lang="zh-CN" sz="180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 xml:space="preserve">。</a:t>
            </a:r>
            <a:endParaRPr lang="zh-CN" sz="1800" b="0">
              <a:solidFill>
                <a:srgbClr val="14273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0003" name="visual:title-rule"/>
          <p:cNvSpPr/>
          <p:nvPr/>
        </p:nvSpPr>
        <p:spPr>
          <a:xfrm>
            <a:off x="533400" y="876300"/>
            <a:ext cx="11125200" cy="19050"/>
          </a:xfrm>
          <a:prstGeom prst="rect">
            <a:avLst/>
          </a:prstGeom>
          <a:solidFill>
            <a:srgbClr val="0755A3"/>
          </a:solidFill>
          <a:ln w="0">
            <a:noFill/>
          </a:ln>
        </p:spPr>
        <p:txBody>
          <a:bodyPr wrap="none"/>
          <a:lstStyle/>
          <a:p/>
        </p:txBody>
      </p:sp>
      <p:sp>
        <p:nvSpPr>
          <p:cNvPr id="100004" name="region:platforms:frame"/>
          <p:cNvSpPr/>
          <p:nvPr/>
        </p:nvSpPr>
        <p:spPr>
          <a:xfrm>
            <a:off x="540544" y="1816894"/>
            <a:ext cx="5434012" cy="4271962"/>
          </a:xfrm>
          <a:prstGeom prst="rect">
            <a:avLst/>
          </a:prstGeom>
          <a:solidFill>
            <a:srgbClr val="FFFFFF"/>
          </a:solidFill>
          <a:ln w="14288">
            <a:solidFill>
              <a:srgbClr val="A7B5C5"/>
            </a:solidFill>
          </a:ln>
        </p:spPr>
        <p:txBody>
          <a:bodyPr wrap="none"/>
          <a:lstStyle/>
          <a:p/>
        </p:txBody>
      </p:sp>
      <p:sp>
        <p:nvSpPr>
          <p:cNvPr id="100005" name="region:platforms:title-band"/>
          <p:cNvSpPr/>
          <p:nvPr/>
        </p:nvSpPr>
        <p:spPr>
          <a:xfrm>
            <a:off x="547688" y="1824038"/>
            <a:ext cx="5419725" cy="514350"/>
          </a:xfrm>
          <a:prstGeom prst="rect">
            <a:avLst/>
          </a:prstGeom>
          <a:solidFill>
            <a:srgbClr val="0755A3"/>
          </a:solidFill>
          <a:ln w="0">
            <a:noFill/>
          </a:ln>
        </p:spPr>
        <p:txBody>
          <a:bodyPr wrap="none"/>
          <a:lstStyle/>
          <a:p/>
        </p:txBody>
      </p:sp>
      <p:sp>
        <p:nvSpPr>
          <p:cNvPr id="100006" name="region:platforms:title"/>
          <p:cNvSpPr txBox="1"/>
          <p:nvPr/>
        </p:nvSpPr>
        <p:spPr>
          <a:xfrm>
            <a:off x="661988" y="1938338"/>
            <a:ext cx="5191125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25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研究平台参考</a:t>
            </a:r>
          </a:p>
        </p:txBody>
      </p:sp>
      <p:pic>
        <p:nvPicPr>
          <p:cNvPr id="100007" name="figure-1" descr="figure-1: 微纳加工制备平台"/>
          <p:cNvPicPr>
            <a:picLocks noChangeAspect="1"/>
          </p:cNvPicPr>
          <p:nvPr/>
        </p:nvPicPr>
        <p:blipFill>
          <a:blip xmlns:r="http://schemas.openxmlformats.org/officeDocument/2006/relationships" r:embed="R947fc4e9ba1448f6"/>
          <a:stretch>
            <a:fillRect/>
          </a:stretch>
        </p:blipFill>
        <p:spPr>
          <a:xfrm>
            <a:off x="831739" y="2452688"/>
            <a:ext cx="2198909" cy="1989489"/>
          </a:xfrm>
          <a:prstGeom prst="rect">
            <a:avLst/>
          </a:prstGeom>
        </p:spPr>
      </p:pic>
      <p:sp>
        <p:nvSpPr>
          <p:cNvPr id="100008" name="figure-1:caption"/>
          <p:cNvSpPr txBox="1"/>
          <p:nvPr/>
        </p:nvSpPr>
        <p:spPr>
          <a:xfrm>
            <a:off x="661988" y="4556477"/>
            <a:ext cx="2538412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875"/>
              </a:lnSpc>
            </a:pPr>
            <a:r>
              <a:rPr lang="en-US" sz="1500" b="0">
                <a:solidFill>
                  <a:srgbClr val="142735"/>
                </a:solidFill>
                <a:latin typeface="Microsoft YaHei"/>
                <a:ea typeface="Microsoft YaHei"/>
              </a:rPr>
              <a:t>微纳加工制备平台</a:t>
            </a:r>
          </a:p>
        </p:txBody>
      </p:sp>
      <p:pic>
        <p:nvPicPr>
          <p:cNvPr id="100009" name="figure-2" descr="figure-2: 光学测试表征平台"/>
          <p:cNvPicPr>
            <a:picLocks noChangeAspect="1"/>
          </p:cNvPicPr>
          <p:nvPr/>
        </p:nvPicPr>
        <p:blipFill>
          <a:blip xmlns:r="http://schemas.openxmlformats.org/officeDocument/2006/relationships" r:embed="R9b2bb2639f0548ce"/>
          <a:stretch>
            <a:fillRect/>
          </a:stretch>
        </p:blipFill>
        <p:spPr>
          <a:xfrm>
            <a:off x="3484452" y="2452688"/>
            <a:ext cx="2198909" cy="1989489"/>
          </a:xfrm>
          <a:prstGeom prst="rect">
            <a:avLst/>
          </a:prstGeom>
        </p:spPr>
      </p:pic>
      <p:sp>
        <p:nvSpPr>
          <p:cNvPr id="100010" name="figure-2:caption"/>
          <p:cNvSpPr txBox="1"/>
          <p:nvPr/>
        </p:nvSpPr>
        <p:spPr>
          <a:xfrm>
            <a:off x="3314700" y="4556477"/>
            <a:ext cx="2538412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875"/>
              </a:lnSpc>
            </a:pPr>
            <a:r>
              <a:rPr lang="en-US" sz="1500" b="0">
                <a:solidFill>
                  <a:srgbClr val="142735"/>
                </a:solidFill>
                <a:latin typeface="Microsoft YaHei"/>
                <a:ea typeface="Microsoft YaHei"/>
              </a:rPr>
              <a:t>光学测试表征平台</a:t>
            </a:r>
          </a:p>
        </p:txBody>
      </p:sp>
      <p:sp>
        <p:nvSpPr>
          <p:cNvPr id="100011" name="conditions"/>
          <p:cNvSpPr txBox="1"/>
          <p:nvPr/>
        </p:nvSpPr>
        <p:spPr>
          <a:xfrm>
            <a:off x="661988" y="4994627"/>
            <a:ext cx="2715511" cy="9727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38"/>
              </a:lnSpc>
            </a:pPr>
            <a:r>
              <a:rPr lang="en-US" sz="1950" b="0">
                <a:solidFill>
                  <a:srgbClr val="142735"/>
                </a:solidFill>
                <a:latin typeface="Microsoft YaHei"/>
                <a:ea typeface="Microsoft YaHei"/>
              </a:rPr>
              <a:t>微纳加工制备</a:t>
            </a:r>
          </a:p>
          <a:p>
            <a:pPr>
              <a:lnSpc>
                <a:spcPts val="2438"/>
              </a:lnSpc>
            </a:pPr>
            <a:r>
              <a:rPr lang="en-US" sz="1950" b="0">
                <a:solidFill>
                  <a:srgbClr val="142735"/>
                </a:solidFill>
                <a:latin typeface="Microsoft YaHei"/>
                <a:ea typeface="Microsoft YaHei"/>
              </a:rPr>
              <a:t>与光学测试表征</a:t>
            </a:r>
          </a:p>
          <a:p>
            <a:pPr>
              <a:lnSpc>
                <a:spcPts val="2438"/>
              </a:lnSpc>
            </a:pPr>
            <a:r>
              <a:rPr lang="en-US" sz="1950" b="0">
                <a:solidFill>
                  <a:srgbClr val="142735"/>
                </a:solidFill>
                <a:latin typeface="Microsoft YaHei"/>
                <a:ea typeface="Microsoft YaHei"/>
              </a:rPr>
              <a:t>分别记录测量条件。</a:t>
            </a:r>
          </a:p>
        </p:txBody>
      </p:sp>
      <p:sp>
        <p:nvSpPr>
          <p:cNvPr id="100012" name="graphic:optical-chip:path:substrate-left"/>
          <p:cNvSpPr/>
          <p:nvPr/>
        </p:nvSpPr>
        <p:spPr>
          <a:xfrm>
            <a:off x="3954277" y="5355882"/>
            <a:ext cx="451582" cy="413497"/>
          </a:xfrm>
          <a:custGeom xmlns:a="http://schemas.openxmlformats.org/drawingml/2006/main">
            <a:avLst/>
            <a:gdLst/>
            <a:ahLst/>
            <a:cxnLst/>
            <a:rect l="0" t="0" r="w" b="h"/>
            <a:pathLst>
              <a:path w="100000" h="100000" fill="norm" stroke="1" extrusionOk="0">
                <a:moveTo>
                  <a:pt x="0" y="0"/>
                </a:moveTo>
                <a:lnTo>
                  <a:pt x="100000" y="84211"/>
                </a:lnTo>
                <a:lnTo>
                  <a:pt x="100000" y="100000"/>
                </a:lnTo>
                <a:lnTo>
                  <a:pt x="0" y="15789"/>
                </a:lnTo>
                <a:close/>
              </a:path>
            </a:pathLst>
          </a:custGeom>
          <a:solidFill>
            <a:srgbClr val="93BAD6"/>
          </a:solidFill>
          <a:ln w="9525">
            <a:solidFill>
              <a:srgbClr val="6C9ABB"/>
            </a:solidFill>
          </a:ln>
        </p:spPr>
        <p:txBody>
          <a:bodyPr wrap="none"/>
          <a:lstStyle/>
          <a:p/>
        </p:txBody>
      </p:sp>
      <p:sp>
        <p:nvSpPr>
          <p:cNvPr id="100013" name="graphic:optical-chip:path:substrate-front"/>
          <p:cNvSpPr/>
          <p:nvPr/>
        </p:nvSpPr>
        <p:spPr>
          <a:xfrm>
            <a:off x="4405859" y="5491901"/>
            <a:ext cx="1033742" cy="277478"/>
          </a:xfrm>
          <a:custGeom xmlns:a="http://schemas.openxmlformats.org/drawingml/2006/main">
            <a:avLst/>
            <a:gdLst/>
            <a:ahLst/>
            <a:cxnLst/>
            <a:rect l="0" t="0" r="w" b="h"/>
            <a:pathLst>
              <a:path w="100000" h="100000" fill="norm" stroke="1" extrusionOk="0">
                <a:moveTo>
                  <a:pt x="0" y="76471"/>
                </a:moveTo>
                <a:lnTo>
                  <a:pt x="100000" y="0"/>
                </a:lnTo>
                <a:lnTo>
                  <a:pt x="100000" y="23529"/>
                </a:lnTo>
                <a:lnTo>
                  <a:pt x="0" y="100000"/>
                </a:lnTo>
                <a:close/>
              </a:path>
            </a:pathLst>
          </a:custGeom>
          <a:solidFill>
            <a:srgbClr val="BCD8EA"/>
          </a:solidFill>
          <a:ln w="9525">
            <a:solidFill>
              <a:srgbClr val="6C9ABB"/>
            </a:solidFill>
          </a:ln>
        </p:spPr>
        <p:txBody>
          <a:bodyPr wrap="none"/>
          <a:lstStyle/>
          <a:p/>
        </p:txBody>
      </p:sp>
      <p:sp>
        <p:nvSpPr>
          <p:cNvPr id="100014" name="graphic:optical-chip:path:substrate-top"/>
          <p:cNvSpPr/>
          <p:nvPr/>
        </p:nvSpPr>
        <p:spPr>
          <a:xfrm>
            <a:off x="3954277" y="5165456"/>
            <a:ext cx="1485324" cy="538634"/>
          </a:xfrm>
          <a:custGeom xmlns:a="http://schemas.openxmlformats.org/drawingml/2006/main">
            <a:avLst/>
            <a:gdLst/>
            <a:ahLst/>
            <a:cxnLst/>
            <a:rect l="0" t="0" r="w" b="h"/>
            <a:pathLst>
              <a:path w="100000" h="100000" fill="norm" stroke="1" extrusionOk="0">
                <a:moveTo>
                  <a:pt x="0" y="35354"/>
                </a:moveTo>
                <a:lnTo>
                  <a:pt x="68498" y="0"/>
                </a:lnTo>
                <a:lnTo>
                  <a:pt x="100000" y="60606"/>
                </a:lnTo>
                <a:lnTo>
                  <a:pt x="30403" y="100000"/>
                </a:lnTo>
                <a:close/>
              </a:path>
            </a:pathLst>
          </a:custGeom>
          <a:solidFill>
            <a:srgbClr val="EDF6FC"/>
          </a:solidFill>
          <a:ln w="11430">
            <a:solidFill>
              <a:srgbClr val="6B9AB9"/>
            </a:solidFill>
          </a:ln>
        </p:spPr>
        <p:txBody>
          <a:bodyPr wrap="none"/>
          <a:lstStyle/>
          <a:p/>
        </p:txBody>
      </p:sp>
      <p:sp>
        <p:nvSpPr>
          <p:cNvPr id="100015" name="graphic:optical-chip:path:front-highlight"/>
          <p:cNvSpPr/>
          <p:nvPr/>
        </p:nvSpPr>
        <p:spPr>
          <a:xfrm>
            <a:off x="4438503" y="5486460"/>
            <a:ext cx="963012" cy="195867"/>
          </a:xfrm>
          <a:custGeom xmlns:a="http://schemas.openxmlformats.org/drawingml/2006/main">
            <a:avLst/>
            <a:gdLst/>
            <a:ahLst/>
            <a:cxnLst/>
            <a:rect l="0" t="0" r="w" b="h"/>
            <a:pathLst>
              <a:path w="100000" h="100000" fill="norm" stroke="1" extrusionOk="0">
                <a:moveTo>
                  <a:pt x="0" y="100000"/>
                </a:moveTo>
                <a:lnTo>
                  <a:pt x="10000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 wrap="none"/>
          <a:lstStyle/>
          <a:p/>
        </p:txBody>
      </p:sp>
      <p:sp>
        <p:nvSpPr>
          <p:cNvPr id="100016" name="graphic:optical-chip:path:bus-guide"/>
          <p:cNvSpPr/>
          <p:nvPr/>
        </p:nvSpPr>
        <p:spPr>
          <a:xfrm>
            <a:off x="3861784" y="5502426"/>
            <a:ext cx="1653987" cy="131355"/>
          </a:xfrm>
          <a:custGeom xmlns:a="http://schemas.openxmlformats.org/drawingml/2006/main">
            <a:avLst/>
            <a:gdLst/>
            <a:ahLst/>
            <a:cxnLst/>
            <a:rect l="0" t="0" r="w" b="h"/>
            <a:pathLst>
              <a:path w="100000" h="100000" fill="norm" stroke="1" extrusionOk="0">
                <a:moveTo>
                  <a:pt x="0" y="58259"/>
                </a:moveTo>
                <a:cubicBezTo>
                  <a:pt x="15132" y="41691"/>
                  <a:pt x="19737" y="-16297"/>
                  <a:pt x="32237" y="4413"/>
                </a:cubicBezTo>
                <a:cubicBezTo>
                  <a:pt x="44737" y="25123"/>
                  <a:pt x="50987" y="99679"/>
                  <a:pt x="62500" y="58259"/>
                </a:cubicBezTo>
                <a:cubicBezTo>
                  <a:pt x="75987" y="8555"/>
                  <a:pt x="84211" y="132815"/>
                  <a:pt x="100000" y="91395"/>
                </a:cubicBezTo>
              </a:path>
            </a:pathLst>
          </a:custGeom>
          <a:noFill/>
          <a:ln w="38100">
            <a:solidFill>
              <a:srgbClr val="0755A3"/>
            </a:solidFill>
          </a:ln>
        </p:spPr>
        <p:txBody>
          <a:bodyPr wrap="none"/>
          <a:lstStyle/>
          <a:p/>
        </p:txBody>
      </p:sp>
      <p:sp>
        <p:nvSpPr>
          <p:cNvPr id="100017" name="graphic:optical-chip:path:bus-guide-core"/>
          <p:cNvSpPr/>
          <p:nvPr/>
        </p:nvSpPr>
        <p:spPr>
          <a:xfrm>
            <a:off x="3861784" y="5502426"/>
            <a:ext cx="1653987" cy="131355"/>
          </a:xfrm>
          <a:custGeom xmlns:a="http://schemas.openxmlformats.org/drawingml/2006/main">
            <a:avLst/>
            <a:gdLst/>
            <a:ahLst/>
            <a:cxnLst/>
            <a:rect l="0" t="0" r="w" b="h"/>
            <a:pathLst>
              <a:path w="100000" h="100000" fill="norm" stroke="1" extrusionOk="0">
                <a:moveTo>
                  <a:pt x="0" y="58259"/>
                </a:moveTo>
                <a:cubicBezTo>
                  <a:pt x="15132" y="41691"/>
                  <a:pt x="19737" y="-16297"/>
                  <a:pt x="32237" y="4413"/>
                </a:cubicBezTo>
                <a:cubicBezTo>
                  <a:pt x="44737" y="25123"/>
                  <a:pt x="50987" y="99679"/>
                  <a:pt x="62500" y="58259"/>
                </a:cubicBezTo>
                <a:cubicBezTo>
                  <a:pt x="75987" y="8555"/>
                  <a:pt x="84211" y="132815"/>
                  <a:pt x="100000" y="91395"/>
                </a:cubicBezTo>
              </a:path>
            </a:pathLst>
          </a:custGeom>
          <a:noFill/>
          <a:ln w="12382">
            <a:solidFill>
              <a:srgbClr val="5DA5D0"/>
            </a:solidFill>
          </a:ln>
        </p:spPr>
        <p:txBody>
          <a:bodyPr wrap="none"/>
          <a:lstStyle/>
          <a:p/>
        </p:txBody>
      </p:sp>
      <p:sp>
        <p:nvSpPr>
          <p:cNvPr id="100018" name="graphic:optical-chip:path:resonator-main"/>
          <p:cNvSpPr/>
          <p:nvPr/>
        </p:nvSpPr>
        <p:spPr>
          <a:xfrm>
            <a:off x="4492911" y="5317797"/>
            <a:ext cx="467904" cy="195867"/>
          </a:xfrm>
          <a:custGeom xmlns:a="http://schemas.openxmlformats.org/drawingml/2006/main">
            <a:avLst/>
            <a:gdLst/>
            <a:ahLst/>
            <a:cxnLst/>
            <a:rect l="0" t="0" r="w" b="h"/>
            <a:pathLst>
              <a:path w="100000" h="100000" fill="norm" stroke="1" extrusionOk="0">
                <a:moveTo>
                  <a:pt x="100000" y="50000"/>
                </a:moveTo>
                <a:cubicBezTo>
                  <a:pt x="100000" y="77614"/>
                  <a:pt x="77614" y="100000"/>
                  <a:pt x="50000" y="100000"/>
                </a:cubicBezTo>
                <a:cubicBezTo>
                  <a:pt x="22386" y="100000"/>
                  <a:pt x="0" y="77614"/>
                  <a:pt x="0" y="50000"/>
                </a:cubicBezTo>
                <a:cubicBezTo>
                  <a:pt x="0" y="22386"/>
                  <a:pt x="22386" y="0"/>
                  <a:pt x="50000" y="0"/>
                </a:cubicBezTo>
                <a:cubicBezTo>
                  <a:pt x="77614" y="0"/>
                  <a:pt x="100000" y="22386"/>
                  <a:pt x="100000" y="50000"/>
                </a:cubicBezTo>
                <a:close/>
              </a:path>
            </a:pathLst>
          </a:custGeom>
          <a:noFill/>
          <a:ln w="28575">
            <a:solidFill>
              <a:srgbClr val="0755A3"/>
            </a:solidFill>
          </a:ln>
        </p:spPr>
        <p:txBody>
          <a:bodyPr wrap="none"/>
          <a:lstStyle/>
          <a:p/>
        </p:txBody>
      </p:sp>
      <p:sp>
        <p:nvSpPr>
          <p:cNvPr id="100019" name="graphic:optical-chip:path:resonator-main-inner"/>
          <p:cNvSpPr/>
          <p:nvPr/>
        </p:nvSpPr>
        <p:spPr>
          <a:xfrm>
            <a:off x="4541878" y="5355882"/>
            <a:ext cx="369971" cy="119696"/>
          </a:xfrm>
          <a:custGeom xmlns:a="http://schemas.openxmlformats.org/drawingml/2006/main">
            <a:avLst/>
            <a:gdLst/>
            <a:ahLst/>
            <a:cxnLst/>
            <a:rect l="0" t="0" r="w" b="h"/>
            <a:pathLst>
              <a:path w="100000" h="100000" fill="norm" stroke="1" extrusionOk="0">
                <a:moveTo>
                  <a:pt x="100000" y="50000"/>
                </a:moveTo>
                <a:cubicBezTo>
                  <a:pt x="100000" y="77614"/>
                  <a:pt x="77614" y="100000"/>
                  <a:pt x="50000" y="100000"/>
                </a:cubicBezTo>
                <a:cubicBezTo>
                  <a:pt x="22386" y="100000"/>
                  <a:pt x="0" y="77614"/>
                  <a:pt x="0" y="50000"/>
                </a:cubicBezTo>
                <a:cubicBezTo>
                  <a:pt x="0" y="22386"/>
                  <a:pt x="22386" y="0"/>
                  <a:pt x="50000" y="0"/>
                </a:cubicBezTo>
                <a:cubicBezTo>
                  <a:pt x="77614" y="0"/>
                  <a:pt x="100000" y="22386"/>
                  <a:pt x="100000" y="50000"/>
                </a:cubicBezTo>
                <a:close/>
              </a:path>
            </a:pathLst>
          </a:custGeom>
          <a:noFill/>
          <a:ln w="11430">
            <a:solidFill>
              <a:srgbClr val="70ACCF"/>
            </a:solidFill>
          </a:ln>
        </p:spPr>
        <p:txBody>
          <a:bodyPr wrap="none"/>
          <a:lstStyle/>
          <a:p/>
        </p:txBody>
      </p:sp>
      <p:sp>
        <p:nvSpPr>
          <p:cNvPr id="100020" name="graphic:optical-chip:path:resonator-coupled"/>
          <p:cNvSpPr/>
          <p:nvPr/>
        </p:nvSpPr>
        <p:spPr>
          <a:xfrm>
            <a:off x="4966256" y="5306916"/>
            <a:ext cx="272037" cy="119696"/>
          </a:xfrm>
          <a:custGeom xmlns:a="http://schemas.openxmlformats.org/drawingml/2006/main">
            <a:avLst/>
            <a:gdLst/>
            <a:ahLst/>
            <a:cxnLst/>
            <a:rect l="0" t="0" r="w" b="h"/>
            <a:pathLst>
              <a:path w="100000" h="100000" fill="norm" stroke="1" extrusionOk="0">
                <a:moveTo>
                  <a:pt x="100000" y="50000"/>
                </a:moveTo>
                <a:cubicBezTo>
                  <a:pt x="100000" y="77614"/>
                  <a:pt x="77614" y="100000"/>
                  <a:pt x="50000" y="100000"/>
                </a:cubicBezTo>
                <a:cubicBezTo>
                  <a:pt x="22386" y="100000"/>
                  <a:pt x="0" y="77614"/>
                  <a:pt x="0" y="50000"/>
                </a:cubicBezTo>
                <a:cubicBezTo>
                  <a:pt x="0" y="22386"/>
                  <a:pt x="22386" y="0"/>
                  <a:pt x="50000" y="0"/>
                </a:cubicBezTo>
                <a:cubicBezTo>
                  <a:pt x="77614" y="0"/>
                  <a:pt x="100000" y="22386"/>
                  <a:pt x="100000" y="50000"/>
                </a:cubicBezTo>
                <a:close/>
              </a:path>
            </a:pathLst>
          </a:custGeom>
          <a:noFill/>
          <a:ln w="23812">
            <a:solidFill>
              <a:srgbClr val="B45309"/>
            </a:solidFill>
          </a:ln>
        </p:spPr>
        <p:txBody>
          <a:bodyPr wrap="none"/>
          <a:lstStyle/>
          <a:p/>
        </p:txBody>
      </p:sp>
      <p:sp>
        <p:nvSpPr>
          <p:cNvPr id="100021" name="graphic:optical-chip:path:resonator-coupled-inner"/>
          <p:cNvSpPr/>
          <p:nvPr/>
        </p:nvSpPr>
        <p:spPr>
          <a:xfrm>
            <a:off x="5009782" y="5334119"/>
            <a:ext cx="184985" cy="65289"/>
          </a:xfrm>
          <a:custGeom xmlns:a="http://schemas.openxmlformats.org/drawingml/2006/main">
            <a:avLst/>
            <a:gdLst/>
            <a:ahLst/>
            <a:cxnLst/>
            <a:rect l="0" t="0" r="w" b="h"/>
            <a:pathLst>
              <a:path w="100000" h="100000" fill="norm" stroke="1" extrusionOk="0">
                <a:moveTo>
                  <a:pt x="100000" y="50000"/>
                </a:moveTo>
                <a:cubicBezTo>
                  <a:pt x="100000" y="77614"/>
                  <a:pt x="77614" y="100000"/>
                  <a:pt x="50000" y="100000"/>
                </a:cubicBezTo>
                <a:cubicBezTo>
                  <a:pt x="22386" y="100000"/>
                  <a:pt x="0" y="77614"/>
                  <a:pt x="0" y="50000"/>
                </a:cubicBezTo>
                <a:cubicBezTo>
                  <a:pt x="0" y="22386"/>
                  <a:pt x="22386" y="0"/>
                  <a:pt x="50000" y="0"/>
                </a:cubicBezTo>
                <a:cubicBezTo>
                  <a:pt x="77614" y="0"/>
                  <a:pt x="100000" y="22386"/>
                  <a:pt x="100000" y="50000"/>
                </a:cubicBezTo>
                <a:close/>
              </a:path>
            </a:pathLst>
          </a:custGeom>
          <a:noFill/>
          <a:ln w="9525">
            <a:solidFill>
              <a:srgbClr val="D49B55"/>
            </a:solidFill>
          </a:ln>
        </p:spPr>
        <p:txBody>
          <a:bodyPr wrap="none"/>
          <a:lstStyle/>
          <a:p/>
        </p:txBody>
      </p:sp>
      <p:sp>
        <p:nvSpPr>
          <p:cNvPr id="100022" name="graphic:optical-chip:path:coupling-section"/>
          <p:cNvSpPr/>
          <p:nvPr/>
        </p:nvSpPr>
        <p:spPr>
          <a:xfrm>
            <a:off x="4922730" y="5380990"/>
            <a:ext cx="65289" cy="18419"/>
          </a:xfrm>
          <a:custGeom xmlns:a="http://schemas.openxmlformats.org/drawingml/2006/main">
            <a:avLst/>
            <a:gdLst/>
            <a:ahLst/>
            <a:cxnLst/>
            <a:rect l="0" t="0" r="w" b="h"/>
            <a:pathLst>
              <a:path w="100000" h="100000" fill="norm" stroke="1" extrusionOk="0">
                <a:moveTo>
                  <a:pt x="0" y="100000"/>
                </a:moveTo>
                <a:cubicBezTo>
                  <a:pt x="58333" y="-47695"/>
                  <a:pt x="66667" y="-18156"/>
                  <a:pt x="100000" y="100000"/>
                </a:cubicBezTo>
              </a:path>
            </a:pathLst>
          </a:custGeom>
          <a:noFill/>
          <a:ln w="19050">
            <a:solidFill>
              <a:srgbClr val="B45309"/>
            </a:solidFill>
          </a:ln>
        </p:spPr>
        <p:txBody>
          <a:bodyPr wrap="none"/>
          <a:lstStyle/>
          <a:p/>
        </p:txBody>
      </p:sp>
      <p:sp>
        <p:nvSpPr>
          <p:cNvPr id="100023" name="graphic:optical-chip:path:contact-0"/>
          <p:cNvSpPr/>
          <p:nvPr/>
        </p:nvSpPr>
        <p:spPr>
          <a:xfrm>
            <a:off x="4139262" y="5294402"/>
            <a:ext cx="103374" cy="41350"/>
          </a:xfrm>
          <a:custGeom xmlns:a="http://schemas.openxmlformats.org/drawingml/2006/main">
            <a:avLst/>
            <a:gdLst/>
            <a:ahLst/>
            <a:cxnLst/>
            <a:rect l="0" t="0" r="w" b="h"/>
            <a:pathLst>
              <a:path w="100000" h="100000" fill="norm" stroke="1" extrusionOk="0">
                <a:moveTo>
                  <a:pt x="0" y="30263"/>
                </a:moveTo>
                <a:lnTo>
                  <a:pt x="63158" y="0"/>
                </a:lnTo>
                <a:lnTo>
                  <a:pt x="100000" y="69737"/>
                </a:lnTo>
                <a:lnTo>
                  <a:pt x="36842" y="100000"/>
                </a:lnTo>
                <a:close/>
              </a:path>
            </a:pathLst>
          </a:custGeom>
          <a:solidFill>
            <a:srgbClr val="DFC183"/>
          </a:solidFill>
          <a:ln w="6668">
            <a:solidFill>
              <a:srgbClr val="B58B48"/>
            </a:solidFill>
          </a:ln>
        </p:spPr>
        <p:txBody>
          <a:bodyPr wrap="none"/>
          <a:lstStyle/>
          <a:p/>
        </p:txBody>
      </p:sp>
      <p:sp>
        <p:nvSpPr>
          <p:cNvPr id="100024" name="graphic:optical-chip:path:contact-1"/>
          <p:cNvSpPr/>
          <p:nvPr/>
        </p:nvSpPr>
        <p:spPr>
          <a:xfrm>
            <a:off x="4264399" y="5271007"/>
            <a:ext cx="103374" cy="41350"/>
          </a:xfrm>
          <a:custGeom xmlns:a="http://schemas.openxmlformats.org/drawingml/2006/main">
            <a:avLst/>
            <a:gdLst/>
            <a:ahLst/>
            <a:cxnLst/>
            <a:rect l="0" t="0" r="w" b="h"/>
            <a:pathLst>
              <a:path w="100000" h="100000" fill="norm" stroke="1" extrusionOk="0">
                <a:moveTo>
                  <a:pt x="0" y="30263"/>
                </a:moveTo>
                <a:lnTo>
                  <a:pt x="63158" y="0"/>
                </a:lnTo>
                <a:lnTo>
                  <a:pt x="100000" y="69737"/>
                </a:lnTo>
                <a:lnTo>
                  <a:pt x="36842" y="100000"/>
                </a:lnTo>
                <a:close/>
              </a:path>
            </a:pathLst>
          </a:custGeom>
          <a:solidFill>
            <a:srgbClr val="DFC183"/>
          </a:solidFill>
          <a:ln w="6668">
            <a:solidFill>
              <a:srgbClr val="B58B48"/>
            </a:solidFill>
          </a:ln>
        </p:spPr>
        <p:txBody>
          <a:bodyPr wrap="none"/>
          <a:lstStyle/>
          <a:p/>
        </p:txBody>
      </p:sp>
      <p:sp>
        <p:nvSpPr>
          <p:cNvPr id="100025" name="graphic:optical-chip:path:contact-2"/>
          <p:cNvSpPr/>
          <p:nvPr/>
        </p:nvSpPr>
        <p:spPr>
          <a:xfrm>
            <a:off x="4389537" y="5247612"/>
            <a:ext cx="103374" cy="41350"/>
          </a:xfrm>
          <a:custGeom xmlns:a="http://schemas.openxmlformats.org/drawingml/2006/main">
            <a:avLst/>
            <a:gdLst/>
            <a:ahLst/>
            <a:cxnLst/>
            <a:rect l="0" t="0" r="w" b="h"/>
            <a:pathLst>
              <a:path w="100000" h="100000" fill="norm" stroke="1" extrusionOk="0">
                <a:moveTo>
                  <a:pt x="0" y="30263"/>
                </a:moveTo>
                <a:lnTo>
                  <a:pt x="63158" y="0"/>
                </a:lnTo>
                <a:lnTo>
                  <a:pt x="100000" y="69737"/>
                </a:lnTo>
                <a:lnTo>
                  <a:pt x="36842" y="100000"/>
                </a:lnTo>
                <a:close/>
              </a:path>
            </a:pathLst>
          </a:custGeom>
          <a:solidFill>
            <a:srgbClr val="DFC183"/>
          </a:solidFill>
          <a:ln w="6668">
            <a:solidFill>
              <a:srgbClr val="B58B48"/>
            </a:solidFill>
          </a:ln>
        </p:spPr>
        <p:txBody>
          <a:bodyPr wrap="none"/>
          <a:lstStyle/>
          <a:p/>
        </p:txBody>
      </p:sp>
      <p:sp>
        <p:nvSpPr>
          <p:cNvPr id="100026" name="graphic:optical-chip:path:contact-3"/>
          <p:cNvSpPr/>
          <p:nvPr/>
        </p:nvSpPr>
        <p:spPr>
          <a:xfrm>
            <a:off x="4514674" y="5224216"/>
            <a:ext cx="103374" cy="41350"/>
          </a:xfrm>
          <a:custGeom xmlns:a="http://schemas.openxmlformats.org/drawingml/2006/main">
            <a:avLst/>
            <a:gdLst/>
            <a:ahLst/>
            <a:cxnLst/>
            <a:rect l="0" t="0" r="w" b="h"/>
            <a:pathLst>
              <a:path w="100000" h="100000" fill="norm" stroke="1" extrusionOk="0">
                <a:moveTo>
                  <a:pt x="0" y="30263"/>
                </a:moveTo>
                <a:lnTo>
                  <a:pt x="63158" y="0"/>
                </a:lnTo>
                <a:lnTo>
                  <a:pt x="100000" y="69737"/>
                </a:lnTo>
                <a:lnTo>
                  <a:pt x="36842" y="100000"/>
                </a:lnTo>
                <a:close/>
              </a:path>
            </a:pathLst>
          </a:custGeom>
          <a:solidFill>
            <a:srgbClr val="DFC183"/>
          </a:solidFill>
          <a:ln w="6668">
            <a:solidFill>
              <a:srgbClr val="B58B48"/>
            </a:solidFill>
          </a:ln>
        </p:spPr>
        <p:txBody>
          <a:bodyPr wrap="none"/>
          <a:lstStyle/>
          <a:p/>
        </p:txBody>
      </p:sp>
      <p:sp>
        <p:nvSpPr>
          <p:cNvPr id="100027" name="graphic:optical-chip:path:optical-pulse-0"/>
          <p:cNvSpPr/>
          <p:nvPr/>
        </p:nvSpPr>
        <p:spPr>
          <a:xfrm>
            <a:off x="4147967" y="5513664"/>
            <a:ext cx="36997" cy="21763"/>
          </a:xfrm>
          <a:custGeom xmlns:a="http://schemas.openxmlformats.org/drawingml/2006/main">
            <a:avLst/>
            <a:gdLst/>
            <a:ahLst/>
            <a:cxnLst/>
            <a:rect l="0" t="0" r="w" b="h"/>
            <a:pathLst>
              <a:path w="100000" h="100000" fill="norm" stroke="1" extrusionOk="0">
                <a:moveTo>
                  <a:pt x="100000" y="50000"/>
                </a:moveTo>
                <a:cubicBezTo>
                  <a:pt x="100000" y="77614"/>
                  <a:pt x="77614" y="100000"/>
                  <a:pt x="50000" y="100000"/>
                </a:cubicBezTo>
                <a:cubicBezTo>
                  <a:pt x="22386" y="100000"/>
                  <a:pt x="0" y="77614"/>
                  <a:pt x="0" y="50000"/>
                </a:cubicBezTo>
                <a:cubicBezTo>
                  <a:pt x="0" y="22386"/>
                  <a:pt x="22386" y="0"/>
                  <a:pt x="50000" y="0"/>
                </a:cubicBezTo>
                <a:cubicBezTo>
                  <a:pt x="77614" y="0"/>
                  <a:pt x="100000" y="22386"/>
                  <a:pt x="100000" y="50000"/>
                </a:cubicBezTo>
                <a:close/>
              </a:path>
            </a:pathLst>
          </a:custGeom>
          <a:solidFill>
            <a:srgbClr val="D98B29"/>
          </a:solidFill>
          <a:ln w="5715">
            <a:solidFill>
              <a:srgbClr val="B45309"/>
            </a:solidFill>
          </a:ln>
        </p:spPr>
        <p:txBody>
          <a:bodyPr wrap="none"/>
          <a:lstStyle/>
          <a:p/>
        </p:txBody>
      </p:sp>
      <p:sp>
        <p:nvSpPr>
          <p:cNvPr id="100028" name="graphic:optical-chip:path:optical-pulse-1"/>
          <p:cNvSpPr/>
          <p:nvPr/>
        </p:nvSpPr>
        <p:spPr>
          <a:xfrm>
            <a:off x="4860705" y="5573512"/>
            <a:ext cx="36997" cy="21763"/>
          </a:xfrm>
          <a:custGeom xmlns:a="http://schemas.openxmlformats.org/drawingml/2006/main">
            <a:avLst/>
            <a:gdLst/>
            <a:ahLst/>
            <a:cxnLst/>
            <a:rect l="0" t="0" r="w" b="h"/>
            <a:pathLst>
              <a:path w="100000" h="100000" fill="norm" stroke="1" extrusionOk="0">
                <a:moveTo>
                  <a:pt x="100000" y="50000"/>
                </a:moveTo>
                <a:cubicBezTo>
                  <a:pt x="100000" y="77614"/>
                  <a:pt x="77614" y="100000"/>
                  <a:pt x="50000" y="100000"/>
                </a:cubicBezTo>
                <a:cubicBezTo>
                  <a:pt x="22386" y="100000"/>
                  <a:pt x="0" y="77614"/>
                  <a:pt x="0" y="50000"/>
                </a:cubicBezTo>
                <a:cubicBezTo>
                  <a:pt x="0" y="22386"/>
                  <a:pt x="22386" y="0"/>
                  <a:pt x="50000" y="0"/>
                </a:cubicBezTo>
                <a:cubicBezTo>
                  <a:pt x="77614" y="0"/>
                  <a:pt x="100000" y="22386"/>
                  <a:pt x="100000" y="50000"/>
                </a:cubicBezTo>
                <a:close/>
              </a:path>
            </a:pathLst>
          </a:custGeom>
          <a:solidFill>
            <a:srgbClr val="D98B29"/>
          </a:solidFill>
          <a:ln w="5715">
            <a:solidFill>
              <a:srgbClr val="B45309"/>
            </a:solidFill>
          </a:ln>
        </p:spPr>
        <p:txBody>
          <a:bodyPr wrap="none"/>
          <a:lstStyle/>
          <a:p/>
        </p:txBody>
      </p:sp>
      <p:sp>
        <p:nvSpPr>
          <p:cNvPr id="100029" name="graphic:optical-chip:path:optical-pulse-2"/>
          <p:cNvSpPr/>
          <p:nvPr/>
        </p:nvSpPr>
        <p:spPr>
          <a:xfrm>
            <a:off x="5317728" y="5627920"/>
            <a:ext cx="36997" cy="21763"/>
          </a:xfrm>
          <a:custGeom xmlns:a="http://schemas.openxmlformats.org/drawingml/2006/main">
            <a:avLst/>
            <a:gdLst/>
            <a:ahLst/>
            <a:cxnLst/>
            <a:rect l="0" t="0" r="w" b="h"/>
            <a:pathLst>
              <a:path w="100000" h="100000" fill="norm" stroke="1" extrusionOk="0">
                <a:moveTo>
                  <a:pt x="100000" y="50000"/>
                </a:moveTo>
                <a:cubicBezTo>
                  <a:pt x="100000" y="77614"/>
                  <a:pt x="77614" y="100000"/>
                  <a:pt x="50000" y="100000"/>
                </a:cubicBezTo>
                <a:cubicBezTo>
                  <a:pt x="22386" y="100000"/>
                  <a:pt x="0" y="77614"/>
                  <a:pt x="0" y="50000"/>
                </a:cubicBezTo>
                <a:cubicBezTo>
                  <a:pt x="0" y="22386"/>
                  <a:pt x="22386" y="0"/>
                  <a:pt x="50000" y="0"/>
                </a:cubicBezTo>
                <a:cubicBezTo>
                  <a:pt x="77614" y="0"/>
                  <a:pt x="100000" y="22386"/>
                  <a:pt x="100000" y="50000"/>
                </a:cubicBezTo>
                <a:close/>
              </a:path>
            </a:pathLst>
          </a:custGeom>
          <a:solidFill>
            <a:srgbClr val="D98B29"/>
          </a:solidFill>
          <a:ln w="5715">
            <a:solidFill>
              <a:srgbClr val="B45309"/>
            </a:solidFill>
          </a:ln>
        </p:spPr>
        <p:txBody>
          <a:bodyPr wrap="none"/>
          <a:lstStyle/>
          <a:p/>
        </p:txBody>
      </p:sp>
      <p:sp>
        <p:nvSpPr>
          <p:cNvPr id="100030" name="graphic:optical-chip:path:input-wave"/>
          <p:cNvSpPr/>
          <p:nvPr/>
        </p:nvSpPr>
        <p:spPr>
          <a:xfrm>
            <a:off x="3573425" y="5525906"/>
            <a:ext cx="293800" cy="106095"/>
          </a:xfrm>
          <a:custGeom xmlns:a="http://schemas.openxmlformats.org/drawingml/2006/main">
            <a:avLst/>
            <a:gdLst/>
            <a:ahLst/>
            <a:cxnLst/>
            <a:rect l="0" t="0" r="w" b="h"/>
            <a:pathLst>
              <a:path w="100000" h="100000" fill="norm" stroke="1" extrusionOk="0">
                <a:moveTo>
                  <a:pt x="0" y="50000"/>
                </a:moveTo>
                <a:cubicBezTo>
                  <a:pt x="11111" y="-16667"/>
                  <a:pt x="22222" y="-16667"/>
                  <a:pt x="33333" y="50000"/>
                </a:cubicBezTo>
                <a:cubicBezTo>
                  <a:pt x="44444" y="116667"/>
                  <a:pt x="55556" y="116667"/>
                  <a:pt x="66667" y="50000"/>
                </a:cubicBezTo>
                <a:cubicBezTo>
                  <a:pt x="77778" y="-16667"/>
                  <a:pt x="88889" y="-16667"/>
                  <a:pt x="100000" y="50000"/>
                </a:cubicBezTo>
              </a:path>
            </a:pathLst>
          </a:custGeom>
          <a:noFill/>
          <a:ln w="17145">
            <a:solidFill>
              <a:srgbClr val="0755A3"/>
            </a:solidFill>
          </a:ln>
        </p:spPr>
        <p:txBody>
          <a:bodyPr wrap="none"/>
          <a:lstStyle/>
          <a:p/>
        </p:txBody>
      </p:sp>
      <p:sp>
        <p:nvSpPr>
          <p:cNvPr id="100031" name="graphic:optical-chip:path:output-wave"/>
          <p:cNvSpPr/>
          <p:nvPr/>
        </p:nvSpPr>
        <p:spPr>
          <a:xfrm>
            <a:off x="5499449" y="5573512"/>
            <a:ext cx="201308" cy="97933"/>
          </a:xfrm>
          <a:custGeom xmlns:a="http://schemas.openxmlformats.org/drawingml/2006/main">
            <a:avLst/>
            <a:gdLst/>
            <a:ahLst/>
            <a:cxnLst/>
            <a:rect l="0" t="0" r="w" b="h"/>
            <a:pathLst>
              <a:path w="100000" h="100000" fill="norm" stroke="1" extrusionOk="0">
                <a:moveTo>
                  <a:pt x="0" y="50000"/>
                </a:moveTo>
                <a:cubicBezTo>
                  <a:pt x="18919" y="-16667"/>
                  <a:pt x="35135" y="-16667"/>
                  <a:pt x="51351" y="50000"/>
                </a:cubicBezTo>
                <a:cubicBezTo>
                  <a:pt x="67568" y="116667"/>
                  <a:pt x="83784" y="116667"/>
                  <a:pt x="100000" y="50000"/>
                </a:cubicBezTo>
              </a:path>
            </a:pathLst>
          </a:custGeom>
          <a:noFill/>
          <a:ln w="17145">
            <a:solidFill>
              <a:srgbClr val="B45309"/>
            </a:solidFill>
          </a:ln>
        </p:spPr>
        <p:txBody>
          <a:bodyPr wrap="none"/>
          <a:lstStyle/>
          <a:p/>
        </p:txBody>
      </p:sp>
      <p:sp>
        <p:nvSpPr>
          <p:cNvPr id="100032" name="graphic:optical-chip:path:input-direction"/>
          <p:cNvSpPr/>
          <p:nvPr/>
        </p:nvSpPr>
        <p:spPr>
          <a:xfrm>
            <a:off x="3829140" y="5557190"/>
            <a:ext cx="54407" cy="43526"/>
          </a:xfrm>
          <a:custGeom xmlns:a="http://schemas.openxmlformats.org/drawingml/2006/main">
            <a:avLst/>
            <a:gdLst/>
            <a:ahLst/>
            <a:cxnLst/>
            <a:rect l="0" t="0" r="w" b="h"/>
            <a:pathLst>
              <a:path w="100000" h="100000" fill="norm" stroke="1" extrusionOk="0">
                <a:moveTo>
                  <a:pt x="100000" y="50000"/>
                </a:moveTo>
                <a:lnTo>
                  <a:pt x="0" y="0"/>
                </a:lnTo>
                <a:lnTo>
                  <a:pt x="20000" y="100000"/>
                </a:lnTo>
                <a:close/>
              </a:path>
            </a:pathLst>
          </a:custGeom>
          <a:solidFill>
            <a:srgbClr val="0755A3"/>
          </a:solidFill>
          <a:ln w="4762">
            <a:solidFill>
              <a:srgbClr val="0755A3"/>
            </a:solidFill>
          </a:ln>
        </p:spPr>
        <p:txBody>
          <a:bodyPr wrap="none"/>
          <a:lstStyle/>
          <a:p/>
        </p:txBody>
      </p:sp>
      <p:sp>
        <p:nvSpPr>
          <p:cNvPr id="100033" name="graphic:optical-chip:path:output-direction"/>
          <p:cNvSpPr/>
          <p:nvPr/>
        </p:nvSpPr>
        <p:spPr>
          <a:xfrm>
            <a:off x="5695316" y="5595275"/>
            <a:ext cx="59848" cy="54407"/>
          </a:xfrm>
          <a:custGeom xmlns:a="http://schemas.openxmlformats.org/drawingml/2006/main">
            <a:avLst/>
            <a:gdLst/>
            <a:ahLst/>
            <a:cxnLst/>
            <a:rect l="0" t="0" r="w" b="h"/>
            <a:pathLst>
              <a:path w="100000" h="100000" fill="norm" stroke="1" extrusionOk="0">
                <a:moveTo>
                  <a:pt x="100000" y="50000"/>
                </a:moveTo>
                <a:lnTo>
                  <a:pt x="0" y="0"/>
                </a:lnTo>
                <a:lnTo>
                  <a:pt x="0" y="100000"/>
                </a:lnTo>
                <a:close/>
              </a:path>
            </a:pathLst>
          </a:custGeom>
          <a:solidFill>
            <a:srgbClr val="B45309"/>
          </a:solidFill>
          <a:ln w="4762">
            <a:solidFill>
              <a:srgbClr val="B45309"/>
            </a:solidFill>
          </a:ln>
        </p:spPr>
        <p:txBody>
          <a:bodyPr wrap="none"/>
          <a:lstStyle/>
          <a:p/>
        </p:txBody>
      </p:sp>
      <p:sp>
        <p:nvSpPr>
          <p:cNvPr id="100034" name="region:model:frame"/>
          <p:cNvSpPr/>
          <p:nvPr/>
        </p:nvSpPr>
        <p:spPr>
          <a:xfrm>
            <a:off x="6217444" y="1816894"/>
            <a:ext cx="5434012" cy="4271962"/>
          </a:xfrm>
          <a:prstGeom prst="rect">
            <a:avLst/>
          </a:prstGeom>
          <a:solidFill>
            <a:srgbClr val="FFFFFF"/>
          </a:solidFill>
          <a:ln w="14288">
            <a:solidFill>
              <a:srgbClr val="A7B5C5"/>
            </a:solidFill>
          </a:ln>
        </p:spPr>
        <p:txBody>
          <a:bodyPr wrap="none"/>
          <a:lstStyle/>
          <a:p/>
        </p:txBody>
      </p:sp>
      <p:sp>
        <p:nvSpPr>
          <p:cNvPr id="100035" name="region:model:title-band"/>
          <p:cNvSpPr/>
          <p:nvPr/>
        </p:nvSpPr>
        <p:spPr>
          <a:xfrm>
            <a:off x="6224588" y="1824038"/>
            <a:ext cx="5419725" cy="514350"/>
          </a:xfrm>
          <a:prstGeom prst="rect">
            <a:avLst/>
          </a:prstGeom>
          <a:solidFill>
            <a:srgbClr val="0755A3"/>
          </a:solidFill>
          <a:ln w="0">
            <a:noFill/>
          </a:ln>
        </p:spPr>
        <p:txBody>
          <a:bodyPr wrap="none"/>
          <a:lstStyle/>
          <a:p/>
        </p:txBody>
      </p:sp>
      <p:sp>
        <p:nvSpPr>
          <p:cNvPr id="100036" name="region:model:title"/>
          <p:cNvSpPr txBox="1"/>
          <p:nvPr/>
        </p:nvSpPr>
        <p:spPr>
          <a:xfrm>
            <a:off x="6338888" y="1938338"/>
            <a:ext cx="5191125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25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矩阵分解与响应函数</a:t>
            </a:r>
          </a:p>
        </p:txBody>
      </p:sp>
      <p:sp>
        <p:nvSpPr>
          <p:cNvPr id="100037" name="factorization"/>
          <p:cNvSpPr/>
          <p:nvPr/>
        </p:nvSpPr>
        <p:spPr>
          <a:xfrm>
            <a:off x="6338888" y="2509838"/>
            <a:ext cx="4343400" cy="876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 xmlns:a="http://schemas.openxmlformats.org/drawingml/2006/main" xmlns:mc="http://schemas.openxmlformats.org/markup-compatibility/2006" xmlns:a14="http://schemas.microsoft.com/office/drawing/2010/main">
            <mc:AlternateContent>
              <mc:Choice Requires="a14">
                <a14:m>
                  <m:oMathPara xmlns:m="http://schemas.openxmlformats.org/officeDocument/2006/math">
                    <m:oMath>
                      <m:r>
                        <a:rPr xmlns:a="http://schemas.openxmlformats.org/drawingml/2006/main" lang="en-US" sz="2250">
                          <a:solidFill>
                            <a:srgbClr val="142735"/>
                          </a:solidFill>
                          <a:latin typeface="Cambria Math"/>
                        </a:rPr>
                        <m:t xml:space="preserve">A</m:t>
                      </m:r>
                      <m:r>
                        <a:rPr xmlns:a="http://schemas.openxmlformats.org/drawingml/2006/main" lang="en-US" sz="2250">
                          <a:solidFill>
                            <a:srgbClr val="142735"/>
                          </a:solidFill>
                          <a:latin typeface="Cambria Math"/>
                        </a:rPr>
                        <m:t xml:space="preserve">=</m:t>
                      </m:r>
                      <m:d>
                        <m:dPr>
                          <m:begChr m:val="("/>
                          <m:endChr m:val=")"/>
                          <m:grow m:val="1"/>
                          <m:shp m:val="centered"/>
                          <m:ctrlPr>
                            <a:rPr xmlns:a="http://schemas.openxmlformats.org/drawingml/2006/main" lang="en-US" sz="2250">
                              <a:solidFill>
                                <a:srgbClr val="142735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1"/>
                              <m:mcs>
                                <m:mc>
                                  <m:mcPr>
                                    <m:count m:val="2"/>
                                  </m:mcPr>
                                </m:mc>
                              </m:mcs>
                              <m:ctrlPr>
                                <a:rPr xmlns:a="http://schemas.openxmlformats.org/drawingml/2006/main" lang="en-US" sz="2250">
                                  <a:solidFill>
                                    <a:srgbClr val="142735"/>
                                  </a:solidFill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a:rPr xmlns:a="http://schemas.openxmlformats.org/drawingml/2006/main" lang="en-US" sz="2250">
                                    <a:solidFill>
                                      <a:srgbClr val="142735"/>
                                    </a:solidFill>
                                    <a:latin typeface="Cambria Math"/>
                                  </a:rPr>
                                  <m:t xml:space="preserve">4</m:t>
                                </m:r>
                              </m:e>
                              <m:e>
                                <m:r>
                                  <a:rPr xmlns:a="http://schemas.openxmlformats.org/drawingml/2006/main" lang="en-US" sz="2250">
                                    <a:solidFill>
                                      <a:srgbClr val="142735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</m:mr>
                            <m:mr>
                              <m:e>
                                <m:r>
                                  <a:rPr xmlns:a="http://schemas.openxmlformats.org/drawingml/2006/main" lang="en-US" sz="2250">
                                    <a:solidFill>
                                      <a:srgbClr val="142735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  <m:e>
                                <m:r>
                                  <a:rPr xmlns:a="http://schemas.openxmlformats.org/drawingml/2006/main" lang="en-US" sz="2250">
                                    <a:solidFill>
                                      <a:srgbClr val="142735"/>
                                    </a:solidFill>
                                    <a:latin typeface="Cambria Math"/>
                                  </a:rPr>
                                  <m:t xml:space="preserve">3</m:t>
                                </m:r>
                              </m:e>
                            </m:mr>
                          </m:m>
                        </m:e>
                      </m:d>
                      <m:r>
                        <a:rPr xmlns:a="http://schemas.openxmlformats.org/drawingml/2006/main" lang="en-US" sz="2250">
                          <a:solidFill>
                            <a:srgbClr val="142735"/>
                          </a:solidFill>
                          <a:latin typeface="Cambria Math"/>
                        </a:rPr>
                        <m:t xml:space="preserve">=</m:t>
                      </m:r>
                      <m:r>
                        <a:rPr xmlns:a="http://schemas.openxmlformats.org/drawingml/2006/main" lang="en-US" sz="2250">
                          <a:solidFill>
                            <a:srgbClr val="142735"/>
                          </a:solidFill>
                          <a:latin typeface="Cambria Math"/>
                        </a:rPr>
                        <m:t xml:space="preserve">L</m:t>
                      </m:r>
                      <m:sSup>
                        <m:e>
                          <m:r>
                            <a:rPr xmlns:a="http://schemas.openxmlformats.org/drawingml/2006/main" lang="en-US" sz="2250">
                              <a:solidFill>
                                <a:srgbClr val="142735"/>
                              </a:solidFill>
                              <a:latin typeface="Cambria Math"/>
                            </a:rPr>
                            <m:t xml:space="preserve">L</m:t>
                          </m:r>
                        </m:e>
                        <m:sup>
                          <m:r>
                            <a:rPr xmlns:a="http://schemas.openxmlformats.org/drawingml/2006/main" lang="en-US" sz="2250">
                              <a:solidFill>
                                <a:srgbClr val="142735"/>
                              </a:solidFill>
                              <a:latin typeface="Cambria Math"/>
                            </a:rPr>
                            <m:t xml:space="preserve">T</m:t>
                          </m:r>
                        </m:sup>
                      </m:sSup>
                      <m:r>
                        <a:rPr xmlns:a="http://schemas.openxmlformats.org/drawingml/2006/main" lang="en-US" sz="2250">
                          <a:solidFill>
                            <a:srgbClr val="142735"/>
                          </a:solidFill>
                          <a:latin typeface="Cambria Math"/>
                        </a:rPr>
                        <m:t xml:space="preserve">,</m:t>
                      </m:r>
                      <m:r>
                        <m:rPr>
                          <m:nor/>
                        </m:rPr>
                        <a:rPr xmlns:a="http://schemas.openxmlformats.org/drawingml/2006/main" lang="en-US" sz="2250">
                          <a:solidFill>
                            <a:srgbClr val="142735"/>
                          </a:solidFill>
                          <a:latin typeface="Cambria Math"/>
                        </a:rPr>
                        <m:t xml:space="preserve"> </m:t>
                      </m:r>
                      <m:r>
                        <a:rPr xmlns:a="http://schemas.openxmlformats.org/drawingml/2006/main" lang="en-US" sz="2250">
                          <a:solidFill>
                            <a:srgbClr val="142735"/>
                          </a:solidFill>
                          <a:latin typeface="Cambria Math"/>
                        </a:rPr>
                        <m:t xml:space="preserve">L</m:t>
                      </m:r>
                      <m:r>
                        <a:rPr xmlns:a="http://schemas.openxmlformats.org/drawingml/2006/main" lang="en-US" sz="2250">
                          <a:solidFill>
                            <a:srgbClr val="142735"/>
                          </a:solidFill>
                          <a:latin typeface="Cambria Math"/>
                        </a:rPr>
                        <m:t xml:space="preserve">=</m:t>
                      </m:r>
                      <m:d>
                        <m:dPr>
                          <m:begChr m:val="("/>
                          <m:endChr m:val=")"/>
                          <m:grow m:val="1"/>
                          <m:shp m:val="centered"/>
                          <m:ctrlPr>
                            <a:rPr xmlns:a="http://schemas.openxmlformats.org/drawingml/2006/main" lang="en-US" sz="2250">
                              <a:solidFill>
                                <a:srgbClr val="142735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1"/>
                              <m:mcs>
                                <m:mc>
                                  <m:mcPr>
                                    <m:count m:val="2"/>
                                  </m:mcPr>
                                </m:mc>
                              </m:mcs>
                              <m:ctrlPr>
                                <a:rPr xmlns:a="http://schemas.openxmlformats.org/drawingml/2006/main" lang="en-US" sz="2250">
                                  <a:solidFill>
                                    <a:srgbClr val="142735"/>
                                  </a:solidFill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a:rPr xmlns:a="http://schemas.openxmlformats.org/drawingml/2006/main" lang="en-US" sz="2250">
                                    <a:solidFill>
                                      <a:srgbClr val="142735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  <m:e>
                                <m:r>
                                  <a:rPr xmlns:a="http://schemas.openxmlformats.org/drawingml/2006/main" lang="en-US" sz="2250">
                                    <a:solidFill>
                                      <a:srgbClr val="142735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</m:mr>
                            <m:mr>
                              <m:e>
                                <m:r>
                                  <a:rPr xmlns:a="http://schemas.openxmlformats.org/drawingml/2006/main" lang="en-US" sz="2250">
                                    <a:solidFill>
                                      <a:srgbClr val="142735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ad>
                                  <m:radPr>
                                    <m:degHide m:val="1"/>
                                    <m:ctrlPr>
                                      <a:rPr xmlns:a="http://schemas.openxmlformats.org/drawingml/2006/main" lang="en-US" sz="2250">
                                        <a:solidFill>
                                          <a:srgbClr val="142735"/>
                                        </a:solidFill>
                                        <a:latin typeface="Cambria Math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xmlns:a="http://schemas.openxmlformats.org/drawingml/2006/main" lang="en-US" sz="2250">
                                        <a:solidFill>
                                          <a:srgbClr val="142735"/>
                                        </a:solidFill>
                                        <a:latin typeface="Cambria Math"/>
                                      </a:rPr>
                                      <m:t xml:space="preserve">2</m:t>
                                    </m:r>
                                  </m:e>
                                </m:rad>
                              </m:e>
                            </m:mr>
                          </m:m>
                        </m:e>
                      </m:d>
                    </m:oMath>
                  </m:oMathPara>
                </a14:m>
              </mc:Choice>
              <mc:Fallback>
                <a:r>
                  <a:rPr lang="en-US" sz="2250">
                    <a:solidFill>
                      <a:srgbClr val="142735"/>
                    </a:solidFill>
                    <a:latin typeface="Cambria Math"/>
                  </a:rPr>
                  <a:t xml:space="preserve">A=(4, 2; 2, 3)=LL^T,  L=(2, 0; 1, √2)</a:t>
                </a:r>
              </mc:Fallback>
            </mc:AlternateContent>
          </a:p>
        </p:txBody>
      </p:sp>
      <p:sp>
        <p:nvSpPr>
          <p:cNvPr id="100038" name="response"/>
          <p:cNvSpPr txBox="1"/>
          <p:nvPr/>
        </p:nvSpPr>
        <p:spPr>
          <a:xfrm>
            <a:off x="6338888" y="3557588"/>
            <a:ext cx="5191125" cy="111252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a14="http://schemas.microsoft.com/office/drawing/2010/main" xmlns:m="http://schemas.openxmlformats.org/officeDocument/2006/math" xmlns:mc="http://schemas.openxmlformats.org/markup-compatibility/2006" xmlns:p="http://schemas.openxmlformats.org/presentationml/2006/main">
          <a:bodyPr wrap="none" lIns="0" tIns="0" rIns="0" bIns="0" anchor="t">
            <a:noAutofit/>
          </a:bodyPr>
          <a:lstStyle/>
          <a:p>
            <a:pPr algn="l">
              <a:lnSpc>
                <a:spcPts val="6285"/>
              </a:lnSpc>
              <a:spcBef>
                <a:spcPts val="0"/>
              </a:spcBef>
              <a:spcAft>
                <a:spcPts val="0"/>
              </a:spcAft>
              <a:buNone/>
              <a:defRPr lang="zh-CN" sz="180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80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 xml:space="preserve">以无量纲时间 </a:t>
            </a:r>
            <mc:AlternateContent>
              <mc:Choice Requires="a14">
                <a14:m>
                  <m:oMath xmlns:m="http://schemas.openxmlformats.org/officeDocument/2006/math">
                    <m:r>
                      <a:rPr xmlns:a="http://schemas.openxmlformats.org/drawingml/2006/main" lang="en-US" sz="1800">
                        <a:solidFill>
                          <a:srgbClr val="142735"/>
                        </a:solidFill>
                        <a:latin typeface="Cambria Math"/>
                      </a:rPr>
                      <m:t xml:space="preserve">t</m:t>
                    </m:r>
                    <m:r>
                      <a:rPr xmlns:a="http://schemas.openxmlformats.org/drawingml/2006/main" lang="en-US" sz="1800">
                        <a:solidFill>
                          <a:srgbClr val="142735"/>
                        </a:solidFill>
                        <a:latin typeface="Cambria Math"/>
                      </a:rPr>
                      <m:t xml:space="preserve">≥</m:t>
                    </m:r>
                    <m:r>
                      <a:rPr xmlns:a="http://schemas.openxmlformats.org/drawingml/2006/main" lang="en-US" sz="1800">
                        <a:solidFill>
                          <a:srgbClr val="142735"/>
                        </a:solidFill>
                        <a:latin typeface="Cambria Math"/>
                      </a:rPr>
                      <m:t xml:space="preserve">0</m:t>
                    </m:r>
                  </m:oMath>
                </a14:m>
              </mc:Choice>
              <mc:Fallback>
                <a:r>
                  <a:rPr lang="zh-CN" sz="1800" b="0">
                    <a:solidFill>
                      <a:srgbClr val="142735"/>
                    </a:solidFill>
                    <a:latin typeface="Microsoft YaHei"/>
                    <a:ea typeface="Microsoft YaHei"/>
                    <a:cs typeface="Microsoft YaHei"/>
                  </a:rPr>
                  <a:t>t≥0</a:t>
                </a:r>
              </mc:Fallback>
            </mc:AlternateContent>
            <a:r>
              <a:rPr lang="zh-CN" sz="180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 xml:space="preserve"> 定义 </a:t>
            </a:r>
            <mc:AlternateContent>
              <mc:Choice Requires="a14">
                <a14:m>
                  <m:oMath xmlns:m="http://schemas.openxmlformats.org/officeDocument/2006/math">
                    <m:r>
                      <a:rPr xmlns:a="http://schemas.openxmlformats.org/drawingml/2006/main" lang="en-US" sz="1800">
                        <a:solidFill>
                          <a:srgbClr val="142735"/>
                        </a:solidFill>
                        <a:latin typeface="Cambria Math"/>
                      </a:rPr>
                      <m:t xml:space="preserve">q</m:t>
                    </m:r>
                    <m:d>
                      <m:dPr>
                        <m:begChr m:val="("/>
                        <m:endChr m:val=")"/>
                        <m:grow m:val="1"/>
                        <m:shp m:val="match"/>
                        <m:ctrlPr>
                          <a:rPr xmlns:a="http://schemas.openxmlformats.org/drawingml/2006/main" lang="en-US" sz="1800">
                            <a:solidFill>
                              <a:srgbClr val="142735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xmlns:a="http://schemas.openxmlformats.org/drawingml/2006/main" lang="en-US" sz="1800">
                            <a:solidFill>
                              <a:srgbClr val="142735"/>
                            </a:solidFill>
                            <a:latin typeface="Cambria Math"/>
                          </a:rPr>
                          <m:t xml:space="preserve">t</m:t>
                        </m:r>
                      </m:e>
                    </m:d>
                    <m:r>
                      <a:rPr xmlns:a="http://schemas.openxmlformats.org/drawingml/2006/main" lang="en-US" sz="1800">
                        <a:solidFill>
                          <a:srgbClr val="142735"/>
                        </a:solidFill>
                        <a:latin typeface="Cambria Math"/>
                      </a:rPr>
                      <m:t xml:space="preserve">=</m:t>
                    </m:r>
                    <m:rad>
                      <m:radPr>
                        <m:degHide m:val="1"/>
                        <m:ctrlPr>
                          <a:rPr xmlns:a="http://schemas.openxmlformats.org/drawingml/2006/main" lang="en-US" sz="1800">
                            <a:solidFill>
                              <a:srgbClr val="142735"/>
                            </a:solidFill>
                            <a:latin typeface="Cambria Math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xmlns:a="http://schemas.openxmlformats.org/drawingml/2006/main" lang="en-US" sz="1800">
                                <a:solidFill>
                                  <a:srgbClr val="142735"/>
                                </a:solidFill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xmlns:a="http://schemas.openxmlformats.org/drawingml/2006/main" lang="en-US" sz="1800">
                                <a:solidFill>
                                  <a:srgbClr val="142735"/>
                                </a:solidFill>
                                <a:latin typeface="Cambria Math"/>
                              </a:rPr>
                              <m:t xml:space="preserve">1</m:t>
                            </m:r>
                            <m:r>
                              <a:rPr xmlns:a="http://schemas.openxmlformats.org/drawingml/2006/main" lang="en-US" sz="1800">
                                <a:solidFill>
                                  <a:srgbClr val="142735"/>
                                </a:solidFill>
                                <a:latin typeface="Cambria Math"/>
                              </a:rPr>
                              <m:t xml:space="preserve">+</m:t>
                            </m:r>
                            <m:sSup>
                              <m:e>
                                <m:r>
                                  <a:rPr xmlns:a="http://schemas.openxmlformats.org/drawingml/2006/main" lang="en-US" sz="1800">
                                    <a:solidFill>
                                      <a:srgbClr val="142735"/>
                                    </a:solidFill>
                                    <a:latin typeface="Cambria Math"/>
                                  </a:rPr>
                                  <m:t xml:space="preserve">e</m:t>
                                </m:r>
                              </m:e>
                              <m:sup>
                                <m:r>
                                  <a:rPr xmlns:a="http://schemas.openxmlformats.org/drawingml/2006/main" lang="en-US" sz="1800">
                                    <a:solidFill>
                                      <a:srgbClr val="142735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a:rPr xmlns:a="http://schemas.openxmlformats.org/drawingml/2006/main" lang="en-US" sz="1800">
                                    <a:solidFill>
                                      <a:srgbClr val="142735"/>
                                    </a:solidFill>
                                    <a:latin typeface="Cambria Math"/>
                                  </a:rPr>
                                  <m:t xml:space="preserve">t</m:t>
                                </m:r>
                              </m:sup>
                            </m:sSup>
                          </m:num>
                          <m:den>
                            <m:r>
                              <a:rPr xmlns:a="http://schemas.openxmlformats.org/drawingml/2006/main" lang="en-US" sz="1800">
                                <a:solidFill>
                                  <a:srgbClr val="142735"/>
                                </a:solidFill>
                                <a:latin typeface="Cambria Math"/>
                              </a:rPr>
                              <m:t xml:space="preserve">2</m:t>
                            </m:r>
                            <m:d>
                              <m:dPr>
                                <m:begChr m:val="("/>
                                <m:endChr m:val=")"/>
                                <m:grow m:val="1"/>
                                <m:shp m:val="match"/>
                                <m:ctrlPr>
                                  <a:rPr xmlns:a="http://schemas.openxmlformats.org/drawingml/2006/main" lang="en-US" sz="1800">
                                    <a:solidFill>
                                      <a:srgbClr val="142735"/>
                                    </a:solidFill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xmlns:a="http://schemas.openxmlformats.org/drawingml/2006/main" lang="en-US" sz="1800">
                                    <a:solidFill>
                                      <a:srgbClr val="142735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  <m:r>
                                  <a:rPr xmlns:a="http://schemas.openxmlformats.org/drawingml/2006/main" lang="en-US" sz="1800">
                                    <a:solidFill>
                                      <a:srgbClr val="142735"/>
                                    </a:solidFill>
                                    <a:latin typeface="Cambria Math"/>
                                  </a:rPr>
                                  <m:t xml:space="preserve">+</m:t>
                                </m:r>
                                <m:sSup>
                                  <m:e>
                                    <m:r>
                                      <a:rPr xmlns:a="http://schemas.openxmlformats.org/drawingml/2006/main" lang="en-US" sz="1800">
                                        <a:solidFill>
                                          <a:srgbClr val="142735"/>
                                        </a:solidFill>
                                        <a:latin typeface="Cambria Math"/>
                                      </a:rPr>
                                      <m:t xml:space="preserve">t</m:t>
                                    </m:r>
                                  </m:e>
                                  <m:sup>
                                    <m:r>
                                      <a:rPr xmlns:a="http://schemas.openxmlformats.org/drawingml/2006/main" lang="en-US" sz="1800">
                                        <a:solidFill>
                                          <a:srgbClr val="142735"/>
                                        </a:solidFill>
                                        <a:latin typeface="Cambria Math"/>
                                      </a:rPr>
                                      <m:t xml:space="preserve">2</m:t>
                                    </m:r>
                                  </m:sup>
                                </m:sSup>
                              </m:e>
                            </m:d>
                          </m:den>
                        </m:f>
                      </m:e>
                    </m:rad>
                  </m:oMath>
                </a14:m>
              </mc:Choice>
              <mc:Fallback>
                <a:r>
                  <a:rPr lang="zh-CN" sz="1800" b="0">
                    <a:solidFill>
                      <a:srgbClr val="142735"/>
                    </a:solidFill>
                    <a:latin typeface="Microsoft YaHei"/>
                    <a:ea typeface="Microsoft YaHei"/>
                    <a:cs typeface="Microsoft YaHei"/>
                  </a:rPr>
                  <a:t>q(t)=√((1+e^(-t))/(2(1+t²)))</a:t>
                </a:r>
              </mc:Fallback>
            </mc:AlternateContent>
            <a:r>
              <a:rPr lang="zh-CN" sz="180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 xml:space="preserve">，且</a:t>
            </a:r>
            <a:endParaRPr lang="zh-CN" sz="1800" b="0">
              <a:solidFill>
                <a:srgbClr val="142735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ts val="2475"/>
              </a:lnSpc>
              <a:spcBef>
                <a:spcPts val="0"/>
              </a:spcBef>
              <a:spcAft>
                <a:spcPts val="0"/>
              </a:spcAft>
              <a:buNone/>
              <a:defRPr lang="zh-CN" sz="180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mc:AlternateContent>
              <mc:Choice Requires="a14">
                <a14:m>
                  <m:oMath xmlns:m="http://schemas.openxmlformats.org/officeDocument/2006/math">
                    <m:r>
                      <a:rPr xmlns:a="http://schemas.openxmlformats.org/drawingml/2006/main" lang="en-US" sz="1800">
                        <a:solidFill>
                          <a:srgbClr val="142735"/>
                        </a:solidFill>
                        <a:latin typeface="Cambria Math"/>
                      </a:rPr>
                      <m:t xml:space="preserve">q</m:t>
                    </m:r>
                    <m:d>
                      <m:dPr>
                        <m:begChr m:val="("/>
                        <m:endChr m:val=")"/>
                        <m:grow m:val="1"/>
                        <m:shp m:val="match"/>
                        <m:ctrlPr>
                          <a:rPr xmlns:a="http://schemas.openxmlformats.org/drawingml/2006/main" lang="en-US" sz="1800">
                            <a:solidFill>
                              <a:srgbClr val="142735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xmlns:a="http://schemas.openxmlformats.org/drawingml/2006/main" lang="en-US" sz="1800">
                            <a:solidFill>
                              <a:srgbClr val="142735"/>
                            </a:solidFill>
                            <a:latin typeface="Cambria Math"/>
                          </a:rPr>
                          <m:t xml:space="preserve">0</m:t>
                        </m:r>
                      </m:e>
                    </m:d>
                    <m:r>
                      <a:rPr xmlns:a="http://schemas.openxmlformats.org/drawingml/2006/main" lang="en-US" sz="1800">
                        <a:solidFill>
                          <a:srgbClr val="142735"/>
                        </a:solidFill>
                        <a:latin typeface="Cambria Math"/>
                      </a:rPr>
                      <m:t xml:space="preserve">=</m:t>
                    </m:r>
                    <m:r>
                      <a:rPr xmlns:a="http://schemas.openxmlformats.org/drawingml/2006/main" lang="en-US" sz="1800">
                        <a:solidFill>
                          <a:srgbClr val="142735"/>
                        </a:solidFill>
                        <a:latin typeface="Cambria Math"/>
                      </a:rPr>
                      <m:t xml:space="preserve">1</m:t>
                    </m:r>
                  </m:oMath>
                </a14:m>
              </mc:Choice>
              <mc:Fallback>
                <a:r>
                  <a:rPr lang="zh-CN" sz="1800" b="0">
                    <a:solidFill>
                      <a:srgbClr val="142735"/>
                    </a:solidFill>
                    <a:latin typeface="Microsoft YaHei"/>
                    <a:ea typeface="Microsoft YaHei"/>
                    <a:cs typeface="Microsoft YaHei"/>
                  </a:rPr>
                  <a:t>q(0)=1</a:t>
                </a:r>
              </mc:Fallback>
            </mc:AlternateContent>
            <a:r>
              <a:rPr lang="zh-CN" sz="180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 xml:space="preserve">。</a:t>
            </a:r>
            <a:endParaRPr lang="zh-CN" sz="1800" b="0">
              <a:solidFill>
                <a:srgbClr val="14273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0039" name="constraints"/>
          <p:cNvSpPr txBox="1"/>
          <p:nvPr/>
        </p:nvSpPr>
        <p:spPr>
          <a:xfrm>
            <a:off x="6338888" y="4784408"/>
            <a:ext cx="5191125" cy="700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xmlns:a="http://schemas.openxmlformats.org/drawingml/2006/main" marL="400050" indent="-400050">
              <a:lnSpc>
                <a:spcPts val="2250"/>
              </a:lnSpc>
              <a:spcAft>
                <a:spcPts val="1012"/>
              </a:spcAft>
              <a:buClr>
                <a:srgbClr val="B45309"/>
              </a:buClr>
              <a:buSzTx/>
              <a:buFont typeface="Wingdings"/>
              <a:buChar char=""/>
            </a:pPr>
            <a:r>
              <a:rPr lang="en-US" sz="1800" b="0">
                <a:solidFill>
                  <a:srgbClr val="142735"/>
                </a:solidFill>
                <a:latin typeface="Microsoft YaHei"/>
                <a:ea typeface="Microsoft YaHei"/>
              </a:rPr>
              <a:t>对称正定矩阵采用 Cholesky 分解。</a:t>
            </a:r>
          </a:p>
          <a:p>
            <a:pPr xmlns:a="http://schemas.openxmlformats.org/drawingml/2006/main" marL="400050" indent="-400050">
              <a:lnSpc>
                <a:spcPts val="2250"/>
              </a:lnSpc>
              <a:buClr>
                <a:srgbClr val="B45309"/>
              </a:buClr>
              <a:buSzTx/>
              <a:buFont typeface="Wingdings"/>
              <a:buChar char=""/>
            </a:pPr>
            <a:r>
              <a:rPr lang="en-US" sz="1800" b="0">
                <a:solidFill>
                  <a:srgbClr val="142735"/>
                </a:solidFill>
                <a:latin typeface="Microsoft YaHei"/>
                <a:ea typeface="Microsoft YaHei"/>
              </a:rPr>
              <a:t>无量纲时间的响应在初始时刻归一化。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等线"/>
        <a:cs typeface=""/>
      </a:majorFont>
      <a:minorFont>
        <a:latin typeface="Calibri"/>
        <a:ea typeface="等线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OfficeCLI/1.0.158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OfficeCLI</dc:creator>
  <dcterms:created xsi:type="dcterms:W3CDTF">2026-10-24T14:21:22.0000000Z</dcterms:created>
  <lastModifiedBy>OfficeCLI</lastModifiedBy>
  <dcterms:modified xsi:type="dcterms:W3CDTF">2026-10-24T14:21:22.7549160Z</dcterms:modified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1.0.158</vt:lpwstr>
  </op:property>
  <op:property fmtid="{D5CDD505-2E9C-101B-9397-08002B2CF9AE}" pid="3" name="OfficeCLI.LastModified">
    <vt:lpwstr xmlns:vt="http://schemas.openxmlformats.org/officeDocument/2006/docPropsVTypes">2026-10-24T14:21:24Z</vt:lpwstr>
  </op:property>
</op:Properties>
</file>